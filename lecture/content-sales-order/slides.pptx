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1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notesMasterIdLst>
    <p:notesMasterId r:id="rId10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オープニング" id="{17401f6d-006b-862f-0520-6dac6d04c53a}">
          <p14:sldIdLst>
            <p14:sldId id="256"/>
            <p14:sldId id="257"/>
            <p14:sldId id="258"/>
          </p14:sldIdLst>
        </p14:section>
        <p14:section name="第0講" id="{b27e3279-f4e9-b9f4-d7c9-f42eead4cf7b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第1講" id="{568c2654-73e2-0ee3-0cae-c0a3631db7c7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第2講" id="{2a1b73bf-ef72-bbef-d5bd-7d8cd312a9ca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第3講" id="{4cf35ff8-4eb1-3af2-7d93-d1997b702624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第4講" id="{85a6227c-8406-0d53-a7b4-8774a1fba83b}">
          <p14:sldIdLst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</p14:sldIdLst>
        </p14:section>
        <p14:section name="第5講" id="{a3fd7d77-331e-aa11-a2b7-0ef8b3941af3}">
          <p14:sldIdLst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</p14:sldIdLst>
        </p14:section>
        <p14:section name="第6講" id="{2a8dd818-cef9-46cd-ae73-7d1c07478e2d}">
          <p14:sldIdLst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</p14:sldIdLst>
        </p14:section>
        <p14:section name="付録" id="{ac4bc33b-bb3a-da76-3f11-53f64dd3edbd}">
          <p14:sldIdLst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100点の内訳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3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A54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8553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内容の質</c:v>
                </c:pt>
                <c:pt idx="1">
                  <c:v>伝え方・構成</c:v>
                </c:pt>
                <c:pt idx="2">
                  <c:v>市場との適合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講座のオープニングです。講師の自己紹介をここで入れてください。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講座全体の地図です。最後まで受けると、紙1枚と30日間の行動計画が手元に残ります。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この3つの言葉は、講座の中で何度も繰り返します。最後にはみなさん自身の言葉になっているはずです。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第0講はオリエンテーションです。この講座全体のテーマである「順番」を受け取ってもらうことがゴールです。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前の2講座で決めたことをふり返ります。（前の2講座のキーワードがあれば、ここで差し込んでください）
今日からは実行編です。やりたい気持ちはあるのに、何から手をつければいいか分からない。その迷いを「順番」で整理していきます。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コンテンツ販売に挑戦して、「自分には向いていないのかもしれない」と感じたことはありませんか？
多くの人が、向いていない、センスがない、特別な人しか成功できない、と考えます。ですが、これはほぼ間違いなく勘違いです。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最初にお伝えしておきます。うまくいかない原因は、才能でもセンスでもありません。
多くの人が、実は同じ勘違いをしたままスタートしている。これだけです。
数多くある事例のなかで、才能がなくて失敗している人というのは、ほとんど存在しません。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多くの人は、もっと学ばないといけない、まだ知識が足りないと考えて、次のノウハウを探しに行きます。
でも、今の時代、やり方も手順も成功事例も、探せばいくらでも見つかります。
それでも結果が出ない人が圧倒的に多い。この事実が、すでに答えを示しています。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問題は「何を知らないか」ではなく、「どこから始めているか」です。この講座では、ずっとこの話をしていきます。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皮肉な話ですが、コンテンツ販売でつまずきやすいのは真面目な人です。
ちゃんと勉強する、失敗しないように準備する、いいものを作ろうとする。一見、成功しそうですよね。
でも、この真面目さが「最初から正解を探しに行く」という形で裏目に出ます。正解を探すあまり、行動の順番を間違えてしまう。こうして、どんどん自信を失っていくのです。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多くの人は「失敗している」と思っていますが、実際は失敗すらしていません。コンテンツ販売として成立する段階にも入っていないケースがほとんどです。
商品がない状態で発信を頑張るのは、お店も商品もないのに呼び込みだけしている状態。売上が出ないのは当然で、構造上、起こるべくして起きているだけです。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うまくいっている人が特別に見えるのは、正しい順番でやっているからです。やっている内容自体は、大きく変わりません。
順番を間違えた努力は、頑張るほど苦しくなります。順番が合っている努力は、少ない力でも前に進みます。この差が「才能がある・ない」という誤解を生んでいるだけなのです。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この講座でお伝えするのは、特別なノウハウでも、一発逆転の裏技でもありません。コンテンツ販売の「正しい順番」です。これを一つずつ、論理的に整理していきます。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講座が終わったとき、この4つの状態になっていることがゴールです。特に3つ目、紙1枚は、この講座の中で一緒に書き終えます。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チャットか付箋で答えてもらいます。ここで出た答えは、次の第1講のつかみで使います。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もし今、「自分はダメなのかもしれない」と感じているなら、安心してください。あなたは間違っていません。ただ、順番を間違えていただけです。
次の講では、そのズレたスタート地点が具体的にどこなのかを見ていきます。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第1講では、多くの人がどこでスタートを間違えているのかを見ていきます。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さきほど「一番時間を使ったこと」を聞きました。SNS発信、勉強……という方が多かったと思います。
もしこれらを選んでいたとしても、安心してください。それ自体が間違いというわけではありません。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ただし、それは「最初にやるべきこと」ではなかったというだけです。このわずかな順序のズレが、後々、大きな迷走を生みます。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果が出ていない人の行動を整理すると、驚くほど似ています。どんな人のどんな悩みを解決したいかを考えずに、SNSを頑張り、フォロワーを増やそうとし、発信内容に悩み続け、何を売るかは後回しにする。
御多分に漏れず、ボク自身もまさしくこれをやっていました。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なぜ、ボクも含め多くの人がこのスタート地点を選んでしまったのか。理由はシンプルで、そうしないといけない気がするからです。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ビジネスと聞くと、「まず人を集めないと」「見てもらえなければ始まらない」と考えますよね。一見、正しそうに聞こえます。
でもここには、「何を売るのかが決まっている」という前提が抜け落ちています。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商品がないまま発信すると、「今日は何を投稿しよう」「誰に向けて書けばいいんだろう」と毎日悩みます。
これは文章力やセンスの問題ではありません。目的地が決まっていないまま、道を走っている状態なんです。目的地が見えないまま走れば、辿り着かないのは当然です。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もう一つよくあるズレたスタートが、学習から始めてしまうことです。学ぶこと自体は必要です。でも「学ぶ→いつかやる」の順番だと、一生スタートできません。
ノウハウには終わりがないからです。学べば学ぶほど知らないことが増え、まだ足りないと感じてしまう。その結果、時間だけが過ぎていきます。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ここで一度、冷静に整理しましょう。コンテンツ販売とは、何をしているビジネスなのか。答えはシンプルです。商品を準備して、それを求める人に届けること。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つまり、どれだけ遠回りしても、必ず通る地点があります。それが「商品が存在する状態」です。ここを通らずに、次へ進むことはできません。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果を出している人は、最初から迷わなかったわけではありません。やる順番が整理されていただけです。まず商品を準備する。その後、伝え方を考えて、人を集める。この順序があるだけで、行動の迷いは激減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ここまでの話を1枚にまとめた図です。左のズレたスタートと、右の正しいスタート。自分はどちらに近かったか、考えてみてください。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自分のこれまでの行動を、前の図のどちらに近いか振り返ってもらいます。商品が登場しない人も多いはずです。それに気づけたら、このワークは成功です。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この章でお伝えしたかったのは、たった一つです。うまくいかないのは、努力が足りないからでもセンスがないからでもなく、スタート地点を間違えているだけ。
次の講では、なぜ商品準備から始めなければならないのかを、構造的に解説します。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第2講は、この講座の核心です。なぜ商品が先なのか、そしてなぜ60点でいいのかを解説します。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第1講で、正しいスタート地点は「商品の準備」だとお伝えしました。でも、ここで誤解しないでください。「じゃあ商品を作れば売れるのか」というと、そうではありません。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商品が存在しない状態では、コンテンツ販売は構造的に成立しません。すべての行動に基準がなくなるからです。
これらが決められないのは、あなたの能力不足ではありません。商品がないから、決めようがない。それだけです。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集客とは本来、商品を届けるための手段です。届けるものが決まっていないのに集客をするのは、宛先の書いていない荷物を大量に発送するようなもの。反応が出ないのは当然の結果です。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商品が一つあるだけで、世界は一気に変わります。誰のどんな悩みを扱うのか、どんな言葉を使うのか、どんな話をすればいいのかが、自然に決まっていきます。
発信が楽になるのは、才能が開花したからではありません。基準ができただけです。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非常に多い誤解が「商品は完成してから出すもの」という考えです。最初の商品は、完成品である必要はありません。むしろ、完成していない前提で作る。これが正解です。
情報商品は作って終わりではありません。販売して、反応を見て、改善する。この前提があるからこそ、商品は育ちます。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点の商品とは、この3つを満たしている状態です。一つ目、誰のどんな悩みを解決するかが決まっている。二つ目、その悩みに対する自分なりの解決ルートがある。三つ目、お金を払う理由として筋が通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逆に言うと、表現が洗練されていない、文章が下手、構成が荒い。これらは60点を下げる要素ではありません。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コンテンツ販売の商品クオリティは、この3つの要素で決まります。このうち、出す前に作れるのは①だけ。①だけで作れるのが、最大でも60点前後です。
残りの40点は、実際に売ってみないと分からないし、反応を見ないと改善できない。つまり、100点を目指して止まるのは、絶対に到達できない点数を追っているということです。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100点の商品を分解してみます。内容の質が40点、伝え方・構成が30点、市場との適合が30点だとします。
このうち、出す前に確実に作り込めるのは内容の質と、少しの工夫まで。伝え方は反応を見て直すもの。刺さるかどうかは、売って初めて分かります。だから、事前に狙える上限がおおよそ60点前後なんです。
（講師メモ：数字は研究データではなく目安のモデルです。「なぜ50点ではないのか」と聞かれたら、点数そのものより「出す前に作れる部分」と「出した後でしか作れない部分」を分けることが大事、と答えてくださ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60点を超えようとした瞬間、正解が分からなくなり、判断基準が消えます。そして「もう少し直してから出そう」「まだ足りない気がする」となって、商品は一生出ません。
逆に、60点で出した人だけが、どこが伝わったのか、どこが刺さらなかったのかという、市場に出さなければ手に入らない情報を回収できます。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60点は妥協ではありません。市場から残りの40点を取りに行くためのスタートラインです。100点を目指して止まるより、60点の状態で出して育てる。これが、現実的で再現性のある戦い方です。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自分の商品案（まだない人は作りたいもの）で、3つの条件に○か×をつけてもらいます。3つとも○なら、出していい状態です。×がある人は、第5講のワークで埋めましょう。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最初の商品が60点でいい理由は、それ以上の点数は、市場に出さなければ構造的に取りようがないからです。
次の講では、それでも出せない人を止めている「2つの敵」を見ていきます。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第2講で「60点でいい」とお伝えしました。頭では分かっても、「お金をもらう以上ちゃんとしたものを……」と感じた方もいると思います。それが今日の一つ目の敵、完璧主義です。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完璧主義と聞くと、悪いものには思えないかもしれません。どれも真面目で誠実な考えです。問題は、この完璧主義が行動を止める方向に働くことです。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璧主義の人は、「まだ足りない」「もっと良くできるはず」「これでは価値がないかもしれない」と考えがちです。ここで起きているのは能力の問題ではありません。判断基準が、未来に置かれている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璧主義の最大の問題は、コンテンツ販売における「正解」は、市場に出した後でしか分からないという点です。それなのに、出す前に正解を決めようとする。これは、答えのないテストを延々と解こうとしているようなものです。疲れるのは当然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良い商品と、売れる商品は違います。良い商品とは、作り手が満足するもの。売れる商品とは、買い手が行動するもの。完璧主義の人ほど良い商品を作ろうとしますが、最初に必要なのは、売れるかどうかを試せる商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璧主義の人は、決して怠け者ではありません。むしろ逆です。失敗したくない、迷惑をかけたくない、ガッカリさせたくない。その優しさや責任感がブレーキになっているんです。だから自分を責める必要はありません。問題は性格ではなく、戦い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コンテンツ販売では、この考え方がすべてを変えます。「出してから直す」。これは妥協ではありません。戦略です。なぜなら、出さなければ直すポイントが分からないからです。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完璧主義そのものを捨てる必要はありません。使うタイミングを変えればいいだけです。出す前は60点でOK。出した後に完璧主義を発動する。この順番なら、完璧主義は最大の武器になります。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伸びる人は、未完成を前提として出します。伸びない人は、完成を条件にします。この違いは才能ではなく、前提の違いです。
もう一つ、完璧主義は自分基準で評価してしまうという問題もあります。でも、商品を評価するのは市場です。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もう一つ、多くの人を静かに消耗させているものがあります。それがズレた努力です。本人は本気で頑張っていて、時間も労力もサボっていない。それでも結果につながらない。言い換えると、努力の量ではなく、向きがズレている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も多いのがこれです。毎日SNSを更新して、役立つ投稿を心がけて、反応が出るまで粘っている。とても真面目です。でも、商品が明確でない状態での発信は、ほぼ確実にズレます。発信のゴールが存在しないからです。
発信量を増やせば増やすほど疲れていきます。これは努力不足ではなく、設計不足です。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次に多いのが、学び続ける努力です。「もう少し理解してから」が口癖になります。本来、学びは前進のためのものです。しかし、行動と切り離された瞬間、学びは安心材料に変わります。
これは怠けではなく、恐怖への自然な反応です。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もう一つがテクニック探しです。売れる言い回し、反応率が上がる型、最新の集客法。テクニック自体が悪いわけではありません。問題は、土台がないまま探すことです。
商品設計や教育の流れがない状態では、どんなテクニックも効果を発揮しません。うまくいかないと、さらに新しいテクニックを探す。このループに入ると、抜け出すのが難しくなります。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ズレた努力の一番怖いところは、本人が頑張っている自覚があるという点です。だから「自分は努力している」「ここまでやってダメなら無理かも」と考えてしまいます。
でもそれは、努力が足りないのではありません。努力の置き場所が間違っているだけです。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しい努力は派手ではありません。商品を形にする、伝え方を考える、反応を見て修正する。この繰り返しです。数字が跳ねることも、すぐに評価されることもほとんどありません。だから多くの人が避けます。
ズレた努力にはやっている感があります。正しい努力は言い訳ができないので不安になります。でも、その不安こそが前に進んでいるサインです。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当てはまるものにチェックをつけてもらいます。✓が多い人ほど、努力の量はもう十分です。あとは向きを変えるだけ、と伝えてください。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あなたが動けなかったのは、意志が弱かったからでも、才能がなかったからでもありません。完璧主義を使うタイミングを間違えていただけです。そして、結果が出ないのは努力が足りないからではなく、努力の向きがズレているだけ。ズレは修正できます。
次の講では、じゃあ何をやればいいのか、正しい努力の順番を具体的に整理します。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までで、「もっと頑張ればいい」「量を増やせばいい」という話ではなかった、ということに気づいていると思います。では、何をどうすればいいのか。今日は、結果を出す人が必ず踏んでいる順番をお渡し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ンテンツ販売では、努力の量よりも順番が重要です。順番が合っていれば、少ない努力でも前に進みます。順番がズレていれば、どれだけ頑張っても空回りします。これは才能やセンスの問題ではありません。構造の問題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まずは全体像を見てください。コンテンツ販売における正しい努力の順番は、この5ステップです。これ以上でも、これ以下でもありません。ここから一つずつ見ていきます。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にやるべきことは、商品作成ではありません。悩みを一つに絞ることです。ここが曖昧なまま商品を作ると、後で必ずズレます。重要なのは広く狙わないこと。自分が一番わかる悩み、過去に自分がハマった悩みから始めるのが、一番再現性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次にやるのが商品作成です。思い出してください。最初の商品は60点でいい、という話をしました。この3つを満たしていれば十分です。デザインや表現の美しさは後回しで構いません。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ここで多くの人がつまずきます。商品を作ったら、すぐに売ろうとする。でも、人はいきなり買いません。必要なのは教育と納得です。これを伝える流れ、つまり文脈を用意します。
（シリーズの次の講座で文脈づくりを扱う場合は、ここで予告してください）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いきなり大きく売ろうとしないでください。高額商品、大規模プロモーション、大量集客。これらは後です。まずは小さく売る。ここで得る目的は、売上よりも反応です。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ここで初めて、完璧主義の出番です。どこで離脱したか、どこに反応があったか、どこが伝わっていないか。これらを見て改善します。このステップを回した人だけが、次に進めます。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順番には理由があります。後ろのステップは、前のステップが成立していないと意味を持ちません。商品がないのに文脈は作れない。文脈がないのに売れない。売らないと改善できない。すべてつなが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大事なことを言います。正しい努力は、やっていて不安になります。数字が出る、反応が出る、結果が見える。だから怖い。ズレた努力は安心します。「まだ準備中」と言えるからです。
それでも、正しい順番を踏めば確実に前に進みます。止まらない、迷いにくい、改善できる。これがコンテンツ販売の再現性です。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チャットか付箋で答えてもらいます。飛ばしていたステップが、これからの伸びしろです。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あなたに足りなかったのは、根性でも才能でもありません。地図です。その地図が、この5ステップです。
次の講では、ここまで読んだ人が必ず思う疑問、「で、最初の一歩は何をすればいいのか？」を、今日から動けるレベルまで具体化します。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第5講はワークの回です。この講の中で、実際に紙1枚を書き終えます。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順番が大事、商品から始める、60点でいい。ここまでは、もう頭では分かっていますよね。それでも多くの人がここで止まります。最初の一歩が、一番怖いからです。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最初の一歩と聞くと、商品を完成させるとか、販売ページを作るとか、大きなことを想像しがちです。でもそれは二歩目、三歩目です。最初の一歩をいきなり重くすると、人は動けなくなります。
最初の一歩は「決めること」。誰の、どんな悩みを、どこまで扱うのか。これを一つに決めるだけです。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なぜ悩みを一つに絞るだけでいいのか。悩みが一つに決まると、次の行動が自動的に決まるからです。何を書くか、何を話すか、何を削るか。すべての判断基準が一つに収束します。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ここで、また完璧主義が顔を出します。「この悩みでいいのか？」「もっと需要がある悩みがあるのでは？」
安心してください。最初の悩みは正解である必要はありません。必要なのは、あなたが一番よく知っている悩みです。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今日できることを具体化します。紙かメモアプリを開いて、この3つを書き出してください。10分で終わります。これが、正しい最初の一歩です。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では、今から15分で紙1枚を書きます。きれいに書かなくて大丈夫です。60点で出しましょう。
（講師メモ：書けずに止まる人には「過去の自分が一番困っていたことは何ですか？」と1つだけ質問してください。それがそのまま①と②になります）
書き終えた方、おめでとうございます。第0講で「失敗ではなく、始まっていないだけ」と言いましたよね。今日、始まりました。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まで来ると、「もし失敗したら？」と思うかもしれません。結論から言います。失敗します。ですが、それでいいのです。失敗はデータだからです。コンテンツ販売において、失敗は次の一手を教えてく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最初の一歩に必要なのは、勇気ではありません。設計です。怖くならないサイズに行動を分解する。これができれば、誰でも踏み出せます。小さく始めれば、修正できます。戻れます。続けられます。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最初の一歩は、小さく、軽く、決めること。それだけで、コンテンツ販売は動き出します。
次の講では、最初の一歩を踏み出したあと、なぜ多くの人が途中で止まるのか、そして続けられる人は何が違うのかを整理します。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講で紙1枚を書きました。今日から始まった方がほとんどだと思います。でも正直にお伝えします。多くの人は、この先で止まります。最後の講では、続けるための思考と、明日からの地図をお渡し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コンテンツ販売で結果が出るかどうかは、ノウハウの差ではない。努力量の差でもない。続けられるかどうか。ほとんど、ここで決まります。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最初は誰でもやる気があります。よし、やるぞ。今度こそ変わる。ところが、しばらくすると手が止まります。理由はシンプルです。思っていたより、すぐに結果が出ないから。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続かない人は、売れたか、反応があったか、数字が伸びたかを基準にしています。結果が出れば進む、出なければ止まる。これでは続くはずがありません。
続けられる人は「今日は、やるべき一手をやったか？」と考えています。結果はコントロールできません。でも、行動はコントロールできます。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続かない人にとって、失敗はやってはいけないものです。だから、失敗しそうになると止まります。続けられる人は、失敗を「次の修正点が分かった」と捉えています。感情ではなく、情報として扱います。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続けられる人は、モチベーションに期待していません。やる気があるからやる、やる気がないからやらない。この発想を最初から捨てています。代わりに、小さく動ける設計を作っています。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続く人は、成功の定義がとても小さいんです。今日は悩みを一つ決めた。今日は構成を書いた。今日は一文だけ書いた。これで前進とみなします。だから、毎日勝てます。毎日勝てる人は、続けます。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逆に、続かない人は一気に変わろうとします。一発で当てたい、最短で結果を出したい、無駄を省きたい。気持ちはよく分かります。ですが、これが一番の遠回りです。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少し意外な話をします。続けられる人は、あまり感情が揺れません。売れても浮かれない。売れなくても落ち込まない。淡々と次の一手を打つ。これは冷たいのではなく、長期戦の構えです。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厳しいようですが、事実を言います。コンテンツ販売では、多くの人が途中でやめます。だから、やめない人はそれだけで上位に残ります。
そして、続けるために強い意志は必要ありません。小さく始めること、止まらないサイズにすること、完璧を求めないこと。これまでの講で話してきたことの延長線上にあります。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講座を通して、繰り返しお伝えしてきたことがあります。コンテンツ販売は、才能の勝負ではない。順番の勝負である。うまくいっている人とそうでない人の差は、どこから始め、何を後回しにしたか。その違いだけ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、この講座全体を一本の線にします。勘違いを捨てる。敵を知る。正しい順番を知る。最初の一歩を踏み出す。続ける。みなさんは今日、この線の4番目まで来ました。最後の5番目は、明日からの30日間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ここからは、明日から何をすればいいかを明確にします。難しいことは一切ありません。完成させようとしないでください。形にするだけで十分です。そして、出した後に初めて完璧主義を使います。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この講座は、受けて終わりにするものではありません。迷ったときに戻ってくるための講座です。手が止まったら、不安になったら、該当する講にまた戻ってきてください。答えは、すでにここにあります。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宿題は2つです。30日アクションシートに、Day2〜7でやることを書いてください。そして毎日、行動記録に「今日の一手」を1行だけ書いてください。
（講師メモ：30日後に出せる形ができた受講者向けに、次の講座や個別相談を案内すると自然な流れになります）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コンテンツ販売は、決して簡単ではありません。でも、特別な人だけの世界でもありません。正しい順番で小さく始め、止まらずに続ける。それができた人だけが、静かに前に進みます。
あなたはもう、迷う側ではありません。地図は、すでに手の中にあります。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ここからは付録です。ワークシートは印刷して配布するか、PDFにして渡してください。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第5講で使うワークシートです。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第2講・第4講で使うワークシートです。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第6講の宿題で使うワークシートです。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第6講の宿題で使うワークシートです。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受講者からよく出る質問と、答え方の例です。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受講者からよく出る質問と、答え方の例です。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90分の単発セミナーで行う場合の時間割です。スライドは各講から抜粋して使ってください。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コンテンツ販売は思考の順番で９割決まる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image" Target="../media/image-7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image" Target="../media/image-9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image" Target="../media/image-9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コンテンツ販売は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思考の順番で９割決まる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才能でもノウハウでもない。迷わず進むための「正しい順番」講座</a:t>
            </a:r>
            <a:endParaRPr lang="en-US" sz="2000" dirty="0"/>
          </a:p>
        </p:txBody>
      </p:sp>
      <p:sp>
        <p:nvSpPr>
          <p:cNvPr id="4" name="number circle"/>
          <p:cNvSpPr/>
          <p:nvPr/>
        </p:nvSpPr>
        <p:spPr>
          <a:xfrm>
            <a:off x="548640" y="960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number circle"/>
          <p:cNvSpPr/>
          <p:nvPr/>
        </p:nvSpPr>
        <p:spPr>
          <a:xfrm>
            <a:off x="1234440" y="9601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number circle"/>
          <p:cNvSpPr/>
          <p:nvPr/>
        </p:nvSpPr>
        <p:spPr>
          <a:xfrm>
            <a:off x="1920240" y="9601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202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number circle"/>
          <p:cNvSpPr/>
          <p:nvPr/>
        </p:nvSpPr>
        <p:spPr>
          <a:xfrm>
            <a:off x="2606040" y="9601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060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number circle"/>
          <p:cNvSpPr/>
          <p:nvPr/>
        </p:nvSpPr>
        <p:spPr>
          <a:xfrm>
            <a:off x="3291840" y="9601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918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講師：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講座の全体像（全7講・約3時間30分）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486400"/>
                <a:gridCol w="1097280"/>
                <a:gridCol w="3227832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タイトル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時間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持ち帰ること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第0講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うまくいかないのは才能のせいではない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始まっていないだけ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第1講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スタート地点のズレ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集客・学習から始めない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商品が先、そして「60点」でいい理由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60点の3条件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あなたを止める2つの敵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完璧主義は出した後に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第4講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正しい努力の5ステップ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量より順番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第5講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【ワーク】最初の一歩は紙1枚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紙1枚を書き終える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第6講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続けられる人の思考と30日ロードマップ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行動を基準にする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この講座で何度も繰り返す3つの言葉</a:t>
            </a:r>
            <a:endParaRPr lang="en-US" sz="2800" dirty="0"/>
          </a:p>
        </p:txBody>
      </p:sp>
      <p:sp>
        <p:nvSpPr>
          <p:cNvPr id="3" name="row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4" name="number circle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463040"/>
            <a:ext cx="9539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才能の勝負ではない。順番の勝負である</a:t>
            </a:r>
            <a:endParaRPr lang="en-US" sz="2400" dirty="0"/>
          </a:p>
        </p:txBody>
      </p:sp>
      <p:sp>
        <p:nvSpPr>
          <p:cNvPr id="7" name="row"/>
          <p:cNvSpPr/>
          <p:nvPr/>
        </p:nvSpPr>
        <p:spPr>
          <a:xfrm>
            <a:off x="548640" y="2852928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8" name="number circle"/>
          <p:cNvSpPr/>
          <p:nvPr/>
        </p:nvSpPr>
        <p:spPr>
          <a:xfrm>
            <a:off x="822960" y="3081528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0815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852928"/>
            <a:ext cx="9539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60点で出して、残りの40点は市場から取りに行く</a:t>
            </a:r>
            <a:endParaRPr lang="en-US" sz="2400" dirty="0"/>
          </a:p>
        </p:txBody>
      </p:sp>
      <p:sp>
        <p:nvSpPr>
          <p:cNvPr id="11" name="row"/>
          <p:cNvSpPr/>
          <p:nvPr/>
        </p:nvSpPr>
        <p:spPr>
          <a:xfrm>
            <a:off x="548640" y="4242816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2" name="number circle"/>
          <p:cNvSpPr/>
          <p:nvPr/>
        </p:nvSpPr>
        <p:spPr>
          <a:xfrm>
            <a:off x="822960" y="4471416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4714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242816"/>
            <a:ext cx="9539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最初の一歩は「作る」ではなく「決める」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うまくいかないのは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才能のせいではない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20分 ／ 原本：はじめに</a:t>
            </a:r>
            <a:endParaRPr lang="en-US" sz="1600" dirty="0"/>
          </a:p>
        </p:txBody>
      </p:sp>
      <p:sp>
        <p:nvSpPr>
          <p:cNvPr id="5" name="goals box"/>
          <p:cNvSpPr/>
          <p:nvPr/>
        </p:nvSpPr>
        <p:spPr>
          <a:xfrm>
            <a:off x="548640" y="429768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この講のゴール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4632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「自分には向いていない」という思い込みを外す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講座全体のテーマ「順番」を受け取る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前回までのふり返り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</a:t>
            </a:r>
            <a:endParaRPr lang="en-US" sz="1400" dirty="0"/>
          </a:p>
        </p:txBody>
      </p:sp>
      <p:sp>
        <p:nvSpPr>
          <p:cNvPr id="5" name="connector"/>
          <p:cNvSpPr/>
          <p:nvPr/>
        </p:nvSpPr>
        <p:spPr>
          <a:xfrm>
            <a:off x="2992069" y="2194560"/>
            <a:ext cx="2509418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6" name="connector"/>
          <p:cNvSpPr/>
          <p:nvPr/>
        </p:nvSpPr>
        <p:spPr>
          <a:xfrm>
            <a:off x="6690208" y="2194560"/>
            <a:ext cx="2509418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7" name="number circle"/>
          <p:cNvSpPr/>
          <p:nvPr/>
        </p:nvSpPr>
        <p:spPr>
          <a:xfrm>
            <a:off x="1894789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94789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コンテンツフリーダム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コンテンツで自由に生きる、という選択肢を知る</a:t>
            </a:r>
            <a:endParaRPr lang="en-US" sz="1500" dirty="0"/>
          </a:p>
        </p:txBody>
      </p:sp>
      <p:sp>
        <p:nvSpPr>
          <p:cNvPr id="11" name="number circle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92928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356506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ひとりビジネスの選択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356506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ひとりでビジネスをする、と決める</a:t>
            </a:r>
            <a:endParaRPr lang="en-US" sz="1500" dirty="0"/>
          </a:p>
        </p:txBody>
      </p:sp>
      <p:sp>
        <p:nvSpPr>
          <p:cNvPr id="15" name="number circle"/>
          <p:cNvSpPr/>
          <p:nvPr/>
        </p:nvSpPr>
        <p:spPr>
          <a:xfrm>
            <a:off x="9291066" y="16916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91066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054645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本講座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054645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何から、どの順番でやるかが分かる</a:t>
            </a:r>
            <a:endParaRPr lang="en-US" sz="1500" dirty="0"/>
          </a:p>
        </p:txBody>
      </p:sp>
      <p:sp>
        <p:nvSpPr>
          <p:cNvPr id="19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今日から「実行編」が始まります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こんな経験はありませんか？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自分には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向いていない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「やっぱり自分には無理かも」と感じた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53458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センスが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ない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「あの人のようには書けない」と比べてしまう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58277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特別な人しか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成功できない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「成功するのは一部の人だけ」と思い込む</a:t>
            </a:r>
            <a:endParaRPr lang="en-US" sz="1800" dirty="0"/>
          </a:p>
        </p:txBody>
      </p:sp>
      <p:sp>
        <p:nvSpPr>
          <p:cNvPr id="20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これは、ほぼ間違いなく勘違いです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原因は才能でもセンスでもない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「同じ勘違い」をしたまま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スタートしているだけ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才能がなくて失敗している人は、ほとんど存在しません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ノウハウが足りないわけでもない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今の時代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情報は溢れている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やり方も、手順も、成功事例も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探せばいくらでも見つかる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それなのに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結果が出ない人が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圧倒的に多い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この事実が、すでに答えを示している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足りないのは知識ではない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問題は「何を知らないか」ではない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よくある考え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何を知らないか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もっと学ばないと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まだ知識が足りない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次のノウハウを探す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2F6B5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本当の問題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どこから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始めているか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どこから始めたか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何を後回しにしたか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つまり「順番」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真面目な人ほど遠回りする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</a:t>
            </a:r>
            <a:endParaRPr lang="en-US" sz="1400" dirty="0"/>
          </a:p>
        </p:txBody>
      </p:sp>
      <p:sp>
        <p:nvSpPr>
          <p:cNvPr id="5" name="left list"/>
          <p:cNvSpPr/>
          <p:nvPr/>
        </p:nvSpPr>
        <p:spPr>
          <a:xfrm>
            <a:off x="548640" y="1463040"/>
            <a:ext cx="3749040" cy="457200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真面目な人の特徴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ちゃんと勉強しようとする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失敗しないように準備する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いいものを作ろうと考える</a:t>
            </a:r>
            <a:endParaRPr lang="en-US" sz="1700" dirty="0"/>
          </a:p>
        </p:txBody>
      </p:sp>
      <p:sp>
        <p:nvSpPr>
          <p:cNvPr id="8" name="right list"/>
          <p:cNvSpPr/>
          <p:nvPr/>
        </p:nvSpPr>
        <p:spPr>
          <a:xfrm>
            <a:off x="7894015" y="1463040"/>
            <a:ext cx="3749040" cy="457200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14055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その結果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14055" y="251460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学んでいるのに前に進まない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行動しても形にならない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頑張るほど不安が増える</a:t>
            </a:r>
            <a:endParaRPr lang="en-US" sz="1700" dirty="0"/>
          </a:p>
        </p:txBody>
      </p:sp>
      <p:sp>
        <p:nvSpPr>
          <p:cNvPr id="11" name="center"/>
          <p:cNvSpPr/>
          <p:nvPr/>
        </p:nvSpPr>
        <p:spPr>
          <a:xfrm>
            <a:off x="4678528" y="1463040"/>
            <a:ext cx="2834640" cy="4572000"/>
          </a:xfrm>
          <a:prstGeom prst="roundRect">
            <a:avLst>
              <a:gd name="adj" fmla="val 4839"/>
            </a:avLst>
          </a:prstGeom>
          <a:solidFill>
            <a:schemeClr val="tx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5684368" y="192024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1878" y="2117750"/>
            <a:ext cx="427939" cy="42793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952848" y="29260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最初から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正解を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探しに行く</a:t>
            </a:r>
            <a:endParaRPr lang="en-US" sz="2800" dirty="0"/>
          </a:p>
        </p:txBody>
      </p:sp>
      <p:sp>
        <p:nvSpPr>
          <p:cNvPr id="15" name="arrow"/>
          <p:cNvSpPr/>
          <p:nvPr/>
        </p:nvSpPr>
        <p:spPr>
          <a:xfrm>
            <a:off x="4305224" y="356616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arrow"/>
          <p:cNvSpPr/>
          <p:nvPr/>
        </p:nvSpPr>
        <p:spPr>
          <a:xfrm>
            <a:off x="7520711" y="356616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失敗ではなく、始まっていないだけ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商品がない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売るものが決まっていない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53458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お店がない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買ってもらう場所がない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58277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呼び込みだけ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集客や発信だけを頑張っている</a:t>
            </a:r>
            <a:endParaRPr lang="en-US" sz="1800" dirty="0"/>
          </a:p>
        </p:txBody>
      </p:sp>
      <p:sp>
        <p:nvSpPr>
          <p:cNvPr id="20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売上が出ないのは当然。失敗ではなく、構造の問題です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うまくいく人が「特別」に見える理由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やっている内容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ほとんど同じ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発信する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商品を作る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売る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違うのは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順番だけ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どこから始めたか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何を後回しにしたか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この講座でお伝えすること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</a:t>
            </a:r>
            <a:endParaRPr lang="en-US" sz="1400" dirty="0"/>
          </a:p>
        </p:txBody>
      </p:sp>
      <p:sp>
        <p:nvSpPr>
          <p:cNvPr id="5" name="row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6" name="number circle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4630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何から始めるべきか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463040"/>
            <a:ext cx="4236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正しいスタート地点を知る</a:t>
            </a:r>
            <a:endParaRPr lang="en-US" sz="1700" dirty="0"/>
          </a:p>
        </p:txBody>
      </p:sp>
      <p:sp>
        <p:nvSpPr>
          <p:cNvPr id="10" name="row"/>
          <p:cNvSpPr/>
          <p:nvPr/>
        </p:nvSpPr>
        <p:spPr>
          <a:xfrm>
            <a:off x="548640" y="2852928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1" name="number circle"/>
          <p:cNvSpPr/>
          <p:nvPr/>
        </p:nvSpPr>
        <p:spPr>
          <a:xfrm>
            <a:off x="822960" y="3081528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0815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285292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何を後回しにしていいのか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852928"/>
            <a:ext cx="4236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今やらなくていいことを手放す</a:t>
            </a:r>
            <a:endParaRPr lang="en-US" sz="1700" dirty="0"/>
          </a:p>
        </p:txBody>
      </p:sp>
      <p:sp>
        <p:nvSpPr>
          <p:cNvPr id="15" name="row"/>
          <p:cNvSpPr/>
          <p:nvPr/>
        </p:nvSpPr>
        <p:spPr>
          <a:xfrm>
            <a:off x="548640" y="4242816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6" name="number circle"/>
          <p:cNvSpPr/>
          <p:nvPr/>
        </p:nvSpPr>
        <p:spPr>
          <a:xfrm>
            <a:off x="822960" y="4471416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714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242816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なぜ今まで苦しかったのか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242816"/>
            <a:ext cx="4236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自分を責める必要がなかったと知る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講座のゴール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</a:t>
            </a:r>
            <a:endParaRPr lang="en-US" sz="1400" dirty="0"/>
          </a:p>
        </p:txBody>
      </p:sp>
      <p:sp>
        <p:nvSpPr>
          <p:cNvPr id="5" name="row"/>
          <p:cNvSpPr/>
          <p:nvPr/>
        </p:nvSpPr>
        <p:spPr>
          <a:xfrm>
            <a:off x="548640" y="1463040"/>
            <a:ext cx="11094415" cy="1014984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22960" y="1604772"/>
            <a:ext cx="731520" cy="73152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80337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463040"/>
            <a:ext cx="51206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原因は「順番」だったと腑に落ちる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1463040"/>
            <a:ext cx="4236415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才能のせいではなかった</a:t>
            </a:r>
            <a:endParaRPr lang="en-US" sz="1700" dirty="0"/>
          </a:p>
        </p:txBody>
      </p:sp>
      <p:sp>
        <p:nvSpPr>
          <p:cNvPr id="10" name="row"/>
          <p:cNvSpPr/>
          <p:nvPr/>
        </p:nvSpPr>
        <p:spPr>
          <a:xfrm>
            <a:off x="548640" y="2679192"/>
            <a:ext cx="11094415" cy="1014984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822960" y="2820924"/>
            <a:ext cx="731520" cy="73152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2996489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8800" y="2679192"/>
            <a:ext cx="51206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5ステップを自分の言葉で説明できる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7132320" y="2679192"/>
            <a:ext cx="4236415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正しい努力の順番</a:t>
            </a:r>
            <a:endParaRPr lang="en-US" sz="1700" dirty="0"/>
          </a:p>
        </p:txBody>
      </p:sp>
      <p:sp>
        <p:nvSpPr>
          <p:cNvPr id="15" name="row"/>
          <p:cNvSpPr/>
          <p:nvPr/>
        </p:nvSpPr>
        <p:spPr>
          <a:xfrm>
            <a:off x="548640" y="3895344"/>
            <a:ext cx="11094415" cy="1014984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22960" y="4037076"/>
            <a:ext cx="731520" cy="73152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4212641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28800" y="3895344"/>
            <a:ext cx="51206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紙1枚を書き終えている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7132320" y="3895344"/>
            <a:ext cx="4236415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誰の・どんな悩みを・どこまで扱うか</a:t>
            </a:r>
            <a:endParaRPr lang="en-US" sz="1700" dirty="0"/>
          </a:p>
        </p:txBody>
      </p:sp>
      <p:sp>
        <p:nvSpPr>
          <p:cNvPr id="20" name="row"/>
          <p:cNvSpPr/>
          <p:nvPr/>
        </p:nvSpPr>
        <p:spPr>
          <a:xfrm>
            <a:off x="548640" y="5111496"/>
            <a:ext cx="11094415" cy="1014984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/>
        </p:spPr>
      </p:sp>
      <p:sp>
        <p:nvSpPr>
          <p:cNvPr id="21" name="icon circle"/>
          <p:cNvSpPr/>
          <p:nvPr/>
        </p:nvSpPr>
        <p:spPr>
          <a:xfrm>
            <a:off x="822960" y="5253228"/>
            <a:ext cx="731520" cy="73152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5" y="5428793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828800" y="5111496"/>
            <a:ext cx="51206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明日から30日間の行動が決まっている</a:t>
            </a:r>
            <a:endParaRPr lang="en-US" sz="2100" dirty="0"/>
          </a:p>
        </p:txBody>
      </p:sp>
      <p:sp>
        <p:nvSpPr>
          <p:cNvPr id="24" name="Text 18"/>
          <p:cNvSpPr txBox="1"/>
          <p:nvPr/>
        </p:nvSpPr>
        <p:spPr>
          <a:xfrm>
            <a:off x="7132320" y="5111496"/>
            <a:ext cx="4236415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30日ロードマップ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問いかけ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</a:t>
            </a:r>
            <a:endParaRPr lang="en-US" sz="1400" dirty="0"/>
          </a:p>
        </p:txBody>
      </p:sp>
      <p:sp>
        <p:nvSpPr>
          <p:cNvPr id="5" name="question panel"/>
          <p:cNvSpPr/>
          <p:nvPr/>
        </p:nvSpPr>
        <p:spPr>
          <a:xfrm>
            <a:off x="548640" y="1463040"/>
            <a:ext cx="11094415" cy="448056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1097280" y="1828800"/>
            <a:ext cx="1097280" cy="109728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627" y="2092147"/>
            <a:ext cx="570586" cy="5705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468880" y="1828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受講者への問いかけ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154680"/>
            <a:ext cx="9997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これまでコンテンツ販売で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「一番時間を使ったこと」は何ですか？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498348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例：SNSの発信、教材での勉強、商品づくり など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73152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9070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第0講のまとめ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あなたは間違っていない。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順番を間違えていただけ。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うまくいっていない ＝ 向いていない、ではありません</a:t>
            </a:r>
            <a:endParaRPr lang="en-US" sz="2000" dirty="0"/>
          </a:p>
        </p:txBody>
      </p:sp>
      <p:sp>
        <p:nvSpPr>
          <p:cNvPr id="7" name="next lecture"/>
          <p:cNvSpPr/>
          <p:nvPr/>
        </p:nvSpPr>
        <p:spPr>
          <a:xfrm>
            <a:off x="548640" y="5120640"/>
            <a:ext cx="6583680" cy="594360"/>
          </a:xfrm>
          <a:prstGeom prst="roundRect">
            <a:avLst>
              <a:gd name="adj" fmla="val 18462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51206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次の講：スタート地点のズレ　→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スタート地点のズレ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25分 ／ 原本：第1章</a:t>
            </a:r>
            <a:endParaRPr lang="en-US" sz="1600" dirty="0"/>
          </a:p>
        </p:txBody>
      </p:sp>
      <p:sp>
        <p:nvSpPr>
          <p:cNvPr id="5" name="goals box"/>
          <p:cNvSpPr/>
          <p:nvPr/>
        </p:nvSpPr>
        <p:spPr>
          <a:xfrm>
            <a:off x="548640" y="429768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この講のゴール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4632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自分の「ズレたスタート」に気づく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正しいスタート地点は「商品が存在する状態」だと理解する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あなたは最初に何から手をつけましたか？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</a:t>
            </a:r>
            <a:endParaRPr lang="en-US" sz="1400" dirty="0"/>
          </a:p>
        </p:txBody>
      </p:sp>
      <p:sp>
        <p:nvSpPr>
          <p:cNvPr id="5" name="question panel"/>
          <p:cNvSpPr/>
          <p:nvPr/>
        </p:nvSpPr>
        <p:spPr>
          <a:xfrm>
            <a:off x="548640" y="1463040"/>
            <a:ext cx="11094415" cy="448056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1097280" y="1828800"/>
            <a:ext cx="1097280" cy="109728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627" y="2092147"/>
            <a:ext cx="570586" cy="5705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468880" y="1828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受講者への問いかけ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154680"/>
            <a:ext cx="9997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SNS？　ブログ？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それとも、ノウハウの勉強？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498348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第0講で答えた「一番時間を使ったこと」を思い出してください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間違いではない。でも「最初」ではなかった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わずかな順序のズレが、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大きな迷走を生む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最初にやるべきことではなかった、というだけです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多くの人が選ぶ「ズレたスタート」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2533574" cy="3794760"/>
          </a:xfrm>
          <a:prstGeom prst="roundRect">
            <a:avLst>
              <a:gd name="adj" fmla="val 5414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18934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SNSを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頑張る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189349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毎日の投稿に追われる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3402254" y="1463040"/>
            <a:ext cx="2533574" cy="3794760"/>
          </a:xfrm>
          <a:prstGeom prst="roundRect">
            <a:avLst>
              <a:gd name="adj" fmla="val 5414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3722294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831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22294" y="2743200"/>
            <a:ext cx="18934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フォロワーを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増やす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722294" y="3931920"/>
            <a:ext cx="189349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数字ばかり気になる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6255868" y="1463040"/>
            <a:ext cx="2533574" cy="3794760"/>
          </a:xfrm>
          <a:prstGeom prst="roundRect">
            <a:avLst>
              <a:gd name="adj" fmla="val 5414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657590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445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75908" y="2743200"/>
            <a:ext cx="18934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発信内容に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悩み続ける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575908" y="3931920"/>
            <a:ext cx="189349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何を書けばいいか分からない</a:t>
            </a:r>
            <a:endParaRPr lang="en-US" sz="1800" dirty="0"/>
          </a:p>
        </p:txBody>
      </p:sp>
      <p:sp>
        <p:nvSpPr>
          <p:cNvPr id="20" name="card"/>
          <p:cNvSpPr/>
          <p:nvPr/>
        </p:nvSpPr>
        <p:spPr>
          <a:xfrm>
            <a:off x="9109481" y="1463040"/>
            <a:ext cx="2533574" cy="3794760"/>
          </a:xfrm>
          <a:prstGeom prst="roundRect">
            <a:avLst>
              <a:gd name="adj" fmla="val 5414"/>
            </a:avLst>
          </a:prstGeom>
          <a:solidFill>
            <a:schemeClr val="bg2"/>
          </a:solidFill>
          <a:ln/>
        </p:spPr>
      </p:sp>
      <p:sp>
        <p:nvSpPr>
          <p:cNvPr id="21" name="icon circle"/>
          <p:cNvSpPr/>
          <p:nvPr/>
        </p:nvSpPr>
        <p:spPr>
          <a:xfrm>
            <a:off x="9429521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6059" y="1969618"/>
            <a:ext cx="404165" cy="40416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429521" y="2743200"/>
            <a:ext cx="18934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何を売るかは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後回し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9429521" y="3931920"/>
            <a:ext cx="189349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商品はいつか作る</a:t>
            </a:r>
            <a:endParaRPr lang="en-US" sz="1800" dirty="0"/>
          </a:p>
        </p:txBody>
      </p:sp>
      <p:sp>
        <p:nvSpPr>
          <p:cNvPr id="25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ボク自身も、まさしくこれをやっていました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なぜそこから始めてしまうのか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「そうしないといけない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気がする」から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理由は、とてもシンプルです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「集客から始める」という思い込み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多くの人の考え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まず人を集めないと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見てもらえなければ始まらない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発信しなければ売れない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抜け落ちている前提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「何を売るのか」が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決まっていること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売るものがないまま集客すると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必ず次の問題にぶつかる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発信が苦しくなる本当の理由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今日は何を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投稿しよう？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毎日ネタ探しに追われる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53458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誰に向けて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書けばいい？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読む人の顔が見えない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58277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この内容で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合っている？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ずっと不安が消えない</a:t>
            </a:r>
            <a:endParaRPr lang="en-US" sz="1800" dirty="0"/>
          </a:p>
        </p:txBody>
      </p:sp>
      <p:sp>
        <p:nvSpPr>
          <p:cNvPr id="20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原因は文章力ではなく「目的地がないまま走っている」こと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ノウハウ収集が止まらない理由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</a:t>
            </a:r>
            <a:endParaRPr lang="en-US" sz="1400" dirty="0"/>
          </a:p>
        </p:txBody>
      </p:sp>
      <p:sp>
        <p:nvSpPr>
          <p:cNvPr id="5" name="connector"/>
          <p:cNvSpPr/>
          <p:nvPr/>
        </p:nvSpPr>
        <p:spPr>
          <a:xfrm>
            <a:off x="2529802" y="2194560"/>
            <a:ext cx="1584884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6" name="connector"/>
          <p:cNvSpPr/>
          <p:nvPr/>
        </p:nvSpPr>
        <p:spPr>
          <a:xfrm>
            <a:off x="5303406" y="2194560"/>
            <a:ext cx="1584884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7" name="connector"/>
          <p:cNvSpPr/>
          <p:nvPr/>
        </p:nvSpPr>
        <p:spPr>
          <a:xfrm>
            <a:off x="8077010" y="2194560"/>
            <a:ext cx="1584884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8" name="number circle"/>
          <p:cNvSpPr/>
          <p:nvPr/>
        </p:nvSpPr>
        <p:spPr>
          <a:xfrm>
            <a:off x="1432522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32522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971800"/>
            <a:ext cx="2554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学ぶ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931920"/>
            <a:ext cx="25541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教材やセミナーで知識を入れる</a:t>
            </a:r>
            <a:endParaRPr lang="en-US" sz="1500" dirty="0"/>
          </a:p>
        </p:txBody>
      </p:sp>
      <p:sp>
        <p:nvSpPr>
          <p:cNvPr id="12" name="number circle"/>
          <p:cNvSpPr/>
          <p:nvPr/>
        </p:nvSpPr>
        <p:spPr>
          <a:xfrm>
            <a:off x="4206126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06126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431972" y="2971800"/>
            <a:ext cx="2554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知らないことが増える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31972" y="3931920"/>
            <a:ext cx="25541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学ぶほど、穴が見えてくる</a:t>
            </a:r>
            <a:endParaRPr lang="en-US" sz="1500" dirty="0"/>
          </a:p>
        </p:txBody>
      </p:sp>
      <p:sp>
        <p:nvSpPr>
          <p:cNvPr id="16" name="number circle"/>
          <p:cNvSpPr/>
          <p:nvPr/>
        </p:nvSpPr>
        <p:spPr>
          <a:xfrm>
            <a:off x="6979730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7973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205576" y="2971800"/>
            <a:ext cx="2554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まだ足りないと感じる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05576" y="3931920"/>
            <a:ext cx="25541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自信が減っていく</a:t>
            </a:r>
            <a:endParaRPr lang="en-US" sz="1500" dirty="0"/>
          </a:p>
        </p:txBody>
      </p:sp>
      <p:sp>
        <p:nvSpPr>
          <p:cNvPr id="20" name="number circle"/>
          <p:cNvSpPr/>
          <p:nvPr/>
        </p:nvSpPr>
        <p:spPr>
          <a:xfrm>
            <a:off x="9753333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53333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979179" y="2971800"/>
            <a:ext cx="2554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また学ぶ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979179" y="3931920"/>
            <a:ext cx="25541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スタート地点に立てないまま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00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↺ 1 に戻る（終わらないループ）</a:t>
            </a:r>
            <a:endParaRPr lang="en-US" sz="1500" dirty="0"/>
          </a:p>
        </p:txBody>
      </p:sp>
      <p:sp>
        <p:nvSpPr>
          <p:cNvPr id="25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「学ぶ → いつかやる」では、一生スタートできない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コンテンツ販売とは何をするビジネスか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商品を準備して、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求める人に届けること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作成して、販売する。とてもシンプルです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必ず通る地点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「商品が存在する状態」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どれだけ遠回りしても、ここを通らずに次へは進めません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うまくいく人の順番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</a:t>
            </a:r>
            <a:endParaRPr lang="en-US" sz="1400" dirty="0"/>
          </a:p>
        </p:txBody>
      </p:sp>
      <p:sp>
        <p:nvSpPr>
          <p:cNvPr id="5" name="connector"/>
          <p:cNvSpPr/>
          <p:nvPr/>
        </p:nvSpPr>
        <p:spPr>
          <a:xfrm>
            <a:off x="2992069" y="2194560"/>
            <a:ext cx="2509418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6" name="connector"/>
          <p:cNvSpPr/>
          <p:nvPr/>
        </p:nvSpPr>
        <p:spPr>
          <a:xfrm>
            <a:off x="6690208" y="2194560"/>
            <a:ext cx="2509418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7" name="number circle"/>
          <p:cNvSpPr/>
          <p:nvPr/>
        </p:nvSpPr>
        <p:spPr>
          <a:xfrm>
            <a:off x="1894789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94789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商品を準備する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売るものを先に決める</a:t>
            </a:r>
            <a:endParaRPr lang="en-US" sz="1500" dirty="0"/>
          </a:p>
        </p:txBody>
      </p:sp>
      <p:sp>
        <p:nvSpPr>
          <p:cNvPr id="11" name="number circle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92928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356506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伝え方を考える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356506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誰に、どう届けるか</a:t>
            </a:r>
            <a:endParaRPr lang="en-US" sz="1500" dirty="0"/>
          </a:p>
        </p:txBody>
      </p:sp>
      <p:sp>
        <p:nvSpPr>
          <p:cNvPr id="15" name="number circle"/>
          <p:cNvSpPr/>
          <p:nvPr/>
        </p:nvSpPr>
        <p:spPr>
          <a:xfrm>
            <a:off x="9291066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91066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054645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人を集める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054645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集客はいちばん最後</a:t>
            </a:r>
            <a:endParaRPr lang="en-US" sz="1500" dirty="0"/>
          </a:p>
        </p:txBody>
      </p:sp>
      <p:sp>
        <p:nvSpPr>
          <p:cNvPr id="19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順番があると、すべての行動に「目的」が生まれる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ズレたスタートと正しいスタート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ズレたスタート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発信・集客から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発信・集客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商品は後回し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迷う・止まる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2F6B5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正しいスタート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悩みを決めてから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悩みを決める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商品（60点）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文脈 → 小さく売る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改善する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【ミニワーク】自分のスタートを振り返る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</a:t>
            </a:r>
            <a:endParaRPr lang="en-US" sz="1400" dirty="0"/>
          </a:p>
        </p:txBody>
      </p:sp>
      <p:sp>
        <p:nvSpPr>
          <p:cNvPr id="5" name="timer"/>
          <p:cNvSpPr/>
          <p:nvPr/>
        </p:nvSpPr>
        <p:spPr>
          <a:xfrm>
            <a:off x="731520" y="1645920"/>
            <a:ext cx="3108960" cy="3108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3分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</a:t>
            </a:r>
            <a:endParaRPr lang="en-US" sz="2200" dirty="0"/>
          </a:p>
        </p:txBody>
      </p:sp>
      <p:sp>
        <p:nvSpPr>
          <p:cNvPr id="8" name="work step"/>
          <p:cNvSpPr/>
          <p:nvPr/>
        </p:nvSpPr>
        <p:spPr>
          <a:xfrm>
            <a:off x="4480560" y="1508760"/>
            <a:ext cx="716249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9" name="number circle"/>
          <p:cNvSpPr/>
          <p:nvPr/>
        </p:nvSpPr>
        <p:spPr>
          <a:xfrm>
            <a:off x="4709160" y="17373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508760"/>
            <a:ext cx="5973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これまでの行動を、やった順に3つ書き出す</a:t>
            </a:r>
            <a:endParaRPr lang="en-US" sz="1900" dirty="0"/>
          </a:p>
        </p:txBody>
      </p:sp>
      <p:sp>
        <p:nvSpPr>
          <p:cNvPr id="12" name="work step"/>
          <p:cNvSpPr/>
          <p:nvPr/>
        </p:nvSpPr>
        <p:spPr>
          <a:xfrm>
            <a:off x="4480560" y="2697480"/>
            <a:ext cx="716249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3" name="number circle"/>
          <p:cNvSpPr/>
          <p:nvPr/>
        </p:nvSpPr>
        <p:spPr>
          <a:xfrm>
            <a:off x="4709160" y="29260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697480"/>
            <a:ext cx="5973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その中に「商品」は何番目に登場した？</a:t>
            </a:r>
            <a:endParaRPr lang="en-US" sz="1900" dirty="0"/>
          </a:p>
        </p:txBody>
      </p:sp>
      <p:sp>
        <p:nvSpPr>
          <p:cNvPr id="16" name="work step"/>
          <p:cNvSpPr/>
          <p:nvPr/>
        </p:nvSpPr>
        <p:spPr>
          <a:xfrm>
            <a:off x="4480560" y="3886200"/>
            <a:ext cx="716249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7" name="number circle"/>
          <p:cNvSpPr/>
          <p:nvPr/>
        </p:nvSpPr>
        <p:spPr>
          <a:xfrm>
            <a:off x="4709160" y="41148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091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886200"/>
            <a:ext cx="5973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登場しなかった人も大丈夫。今日ここから直せます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73152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9070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第1講のまとめ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うまくいかないのは、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スタート地点がズレていただけ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これは修正できる問題で、修正方法もシンプルです</a:t>
            </a:r>
            <a:endParaRPr lang="en-US" sz="2000" dirty="0"/>
          </a:p>
        </p:txBody>
      </p:sp>
      <p:sp>
        <p:nvSpPr>
          <p:cNvPr id="7" name="next lecture"/>
          <p:cNvSpPr/>
          <p:nvPr/>
        </p:nvSpPr>
        <p:spPr>
          <a:xfrm>
            <a:off x="548640" y="5120640"/>
            <a:ext cx="6583680" cy="594360"/>
          </a:xfrm>
          <a:prstGeom prst="roundRect">
            <a:avLst>
              <a:gd name="adj" fmla="val 18462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51206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次の講：商品が先、そして「60点」でいい理由　→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商品が先、そして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「60点」でいい理由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35分 ／ 原本：第2章</a:t>
            </a:r>
            <a:endParaRPr lang="en-US" sz="1600" dirty="0"/>
          </a:p>
        </p:txBody>
      </p:sp>
      <p:sp>
        <p:nvSpPr>
          <p:cNvPr id="5" name="goals box"/>
          <p:cNvSpPr/>
          <p:nvPr/>
        </p:nvSpPr>
        <p:spPr>
          <a:xfrm>
            <a:off x="548640" y="429768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この講のゴール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4632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商品があると、発信・集客の基準ができると理解する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「商品＝完成品」という誤解を外し、60点の3条件を覚える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正しいスタート地点は「商品の準備」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ただし「作れば売れる」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という意味ではない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この章では、その“勘違い”も含めて整理していきます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商品がないと、すべてが不安定になる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何を発信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すればいい？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テーマが決まらない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53458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誰に向けて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書けばいい？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相手が決まらない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58277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この方向で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合っている？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判断ができない</a:t>
            </a:r>
            <a:endParaRPr lang="en-US" sz="1800" dirty="0"/>
          </a:p>
        </p:txBody>
      </p:sp>
      <p:sp>
        <p:nvSpPr>
          <p:cNvPr id="20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決められないのは能力不足ではなく、商品がないから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「集客が先」が生む矛盾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宛先の書いていない荷物を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大量に発送するようなもの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集客は本来、商品を届けるための「手段」です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商品が先にあると、すべてが整理される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扱う悩みが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決まる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誰の、どんな悩みを扱うのか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53458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使う言葉が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決まる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どんな言葉で伝えるのか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58277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話す内容が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決まる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どんな話をすればいいのか</a:t>
            </a:r>
            <a:endParaRPr lang="en-US" sz="1800" dirty="0"/>
          </a:p>
        </p:txBody>
      </p:sp>
      <p:sp>
        <p:nvSpPr>
          <p:cNvPr id="20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才能が開花したのではなく、基準ができただけ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最大の誤解：「商品＝完成品」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よくある誤解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完成してから出す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最初から100点を狙う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いつまでも世に出せない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2F6B5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完成していない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前提で作る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販売して、反応を見て、改善する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だから商品は育つ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60点の商品とは（3つの条件）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</a:t>
            </a:r>
            <a:endParaRPr lang="en-US" sz="1400" dirty="0"/>
          </a:p>
        </p:txBody>
      </p:sp>
      <p:sp>
        <p:nvSpPr>
          <p:cNvPr id="5" name="row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6" name="number circle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4630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悩みが決まっている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463040"/>
            <a:ext cx="4236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誰のどんな悩みを解決するかが明確</a:t>
            </a:r>
            <a:endParaRPr lang="en-US" sz="1700" dirty="0"/>
          </a:p>
        </p:txBody>
      </p:sp>
      <p:sp>
        <p:nvSpPr>
          <p:cNvPr id="10" name="row"/>
          <p:cNvSpPr/>
          <p:nvPr/>
        </p:nvSpPr>
        <p:spPr>
          <a:xfrm>
            <a:off x="548640" y="2852928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1" name="number circle"/>
          <p:cNvSpPr/>
          <p:nvPr/>
        </p:nvSpPr>
        <p:spPr>
          <a:xfrm>
            <a:off x="822960" y="3081528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0815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285292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解決ルートがある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852928"/>
            <a:ext cx="4236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自分なりの解決ルートを示せる</a:t>
            </a:r>
            <a:endParaRPr lang="en-US" sz="1700" dirty="0"/>
          </a:p>
        </p:txBody>
      </p:sp>
      <p:sp>
        <p:nvSpPr>
          <p:cNvPr id="15" name="row"/>
          <p:cNvSpPr/>
          <p:nvPr/>
        </p:nvSpPr>
        <p:spPr>
          <a:xfrm>
            <a:off x="548640" y="4242816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6" name="number circle"/>
          <p:cNvSpPr/>
          <p:nvPr/>
        </p:nvSpPr>
        <p:spPr>
          <a:xfrm>
            <a:off x="822960" y="4471416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714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242816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お金を払う理由がある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242816"/>
            <a:ext cx="4236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お金を払う理由として筋が通っている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60点を下げないもの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表現が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洗練されていない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後から磨けばいい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53458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下手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伝わればまずはOK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58277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荒い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反応を見て直せる</a:t>
            </a:r>
            <a:endParaRPr lang="en-US" sz="1800" dirty="0"/>
          </a:p>
        </p:txBody>
      </p:sp>
      <p:sp>
        <p:nvSpPr>
          <p:cNvPr id="20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これらは「出してから」直せばいい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なぜ「60点」なのか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</a:t>
            </a:r>
            <a:endParaRPr lang="en-US" sz="1400" dirty="0"/>
          </a:p>
        </p:txBody>
      </p:sp>
      <p:sp>
        <p:nvSpPr>
          <p:cNvPr id="5" name="connector"/>
          <p:cNvSpPr/>
          <p:nvPr/>
        </p:nvSpPr>
        <p:spPr>
          <a:xfrm>
            <a:off x="2992069" y="2194560"/>
            <a:ext cx="2509418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6" name="connector"/>
          <p:cNvSpPr/>
          <p:nvPr/>
        </p:nvSpPr>
        <p:spPr>
          <a:xfrm>
            <a:off x="6690208" y="2194560"/>
            <a:ext cx="2509418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7" name="number circle"/>
          <p:cNvSpPr/>
          <p:nvPr/>
        </p:nvSpPr>
        <p:spPr>
          <a:xfrm>
            <a:off x="1894789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94789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自分が用意できる情報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事前（出す前）</a:t>
            </a:r>
            <a:endParaRPr lang="en-US" sz="1500" dirty="0"/>
          </a:p>
        </p:txBody>
      </p:sp>
      <p:sp>
        <p:nvSpPr>
          <p:cNvPr id="11" name="number circle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92928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356506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市場の反応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356506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販売後</a:t>
            </a:r>
            <a:endParaRPr lang="en-US" sz="1500" dirty="0"/>
          </a:p>
        </p:txBody>
      </p:sp>
      <p:sp>
        <p:nvSpPr>
          <p:cNvPr id="15" name="number circle"/>
          <p:cNvSpPr/>
          <p:nvPr/>
        </p:nvSpPr>
        <p:spPr>
          <a:xfrm>
            <a:off x="9291066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91066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054645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改善による最適化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054645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運用中</a:t>
            </a:r>
            <a:endParaRPr lang="en-US" sz="1500" dirty="0"/>
          </a:p>
        </p:txBody>
      </p:sp>
      <p:sp>
        <p:nvSpPr>
          <p:cNvPr id="19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出す前に作れるのは①だけ ＝ 最大でも60点前後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100点の商品を分解してみる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417320"/>
          <a:ext cx="3749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" y="29260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100点</a:t>
            </a:r>
            <a:endParaRPr lang="en-US" sz="3000" dirty="0"/>
          </a:p>
        </p:txBody>
      </p:sp>
      <p:sp>
        <p:nvSpPr>
          <p:cNvPr id="7" name="part"/>
          <p:cNvSpPr/>
          <p:nvPr/>
        </p:nvSpPr>
        <p:spPr>
          <a:xfrm>
            <a:off x="5394960" y="1554480"/>
            <a:ext cx="6248095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8" name="swatch"/>
          <p:cNvSpPr/>
          <p:nvPr/>
        </p:nvSpPr>
        <p:spPr>
          <a:xfrm>
            <a:off x="5669280" y="18745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1554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内容の質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155448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40点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509760" y="1554480"/>
            <a:ext cx="1950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出す前に作れる</a:t>
            </a:r>
            <a:endParaRPr lang="en-US" sz="1600" dirty="0"/>
          </a:p>
        </p:txBody>
      </p:sp>
      <p:sp>
        <p:nvSpPr>
          <p:cNvPr id="12" name="part"/>
          <p:cNvSpPr/>
          <p:nvPr/>
        </p:nvSpPr>
        <p:spPr>
          <a:xfrm>
            <a:off x="5394960" y="2788920"/>
            <a:ext cx="6248095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3" name="swatch"/>
          <p:cNvSpPr/>
          <p:nvPr/>
        </p:nvSpPr>
        <p:spPr>
          <a:xfrm>
            <a:off x="5669280" y="3108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7889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伝え方・構成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7889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30点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509760" y="2788920"/>
            <a:ext cx="1950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反応を見て直す</a:t>
            </a:r>
            <a:endParaRPr lang="en-US" sz="1600" dirty="0"/>
          </a:p>
        </p:txBody>
      </p:sp>
      <p:sp>
        <p:nvSpPr>
          <p:cNvPr id="17" name="part"/>
          <p:cNvSpPr/>
          <p:nvPr/>
        </p:nvSpPr>
        <p:spPr>
          <a:xfrm>
            <a:off x="5394960" y="4023360"/>
            <a:ext cx="6248095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8" name="swatch"/>
          <p:cNvSpPr/>
          <p:nvPr/>
        </p:nvSpPr>
        <p:spPr>
          <a:xfrm>
            <a:off x="5669280" y="43434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309360" y="40233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市場との適合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402336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30点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9509760" y="4023360"/>
            <a:ext cx="1950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売って初めて分かる</a:t>
            </a:r>
            <a:endParaRPr lang="en-US" sz="1600" dirty="0"/>
          </a:p>
        </p:txBody>
      </p:sp>
      <p:sp>
        <p:nvSpPr>
          <p:cNvPr id="22" name="key message"/>
          <p:cNvSpPr/>
          <p:nvPr/>
        </p:nvSpPr>
        <p:spPr>
          <a:xfrm>
            <a:off x="548640" y="534924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53492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出す前に届くのは、おおよそ60点まで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考え方を伝えるための目安のモデルです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60点を超えようとすると起きること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</a:t>
            </a:r>
            <a:endParaRPr lang="en-US" sz="1400" dirty="0"/>
          </a:p>
        </p:txBody>
      </p:sp>
      <p:sp>
        <p:nvSpPr>
          <p:cNvPr id="5" name="connector"/>
          <p:cNvSpPr/>
          <p:nvPr/>
        </p:nvSpPr>
        <p:spPr>
          <a:xfrm>
            <a:off x="2529802" y="2194560"/>
            <a:ext cx="1584884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6" name="connector"/>
          <p:cNvSpPr/>
          <p:nvPr/>
        </p:nvSpPr>
        <p:spPr>
          <a:xfrm>
            <a:off x="5303406" y="2194560"/>
            <a:ext cx="1584884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7" name="connector"/>
          <p:cNvSpPr/>
          <p:nvPr/>
        </p:nvSpPr>
        <p:spPr>
          <a:xfrm>
            <a:off x="8077010" y="2194560"/>
            <a:ext cx="1584884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8" name="number circle"/>
          <p:cNvSpPr/>
          <p:nvPr/>
        </p:nvSpPr>
        <p:spPr>
          <a:xfrm>
            <a:off x="1432522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32522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971800"/>
            <a:ext cx="2554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正解が分からない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931920"/>
            <a:ext cx="25541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比べる相手がいない</a:t>
            </a:r>
            <a:endParaRPr lang="en-US" sz="1500" dirty="0"/>
          </a:p>
        </p:txBody>
      </p:sp>
      <p:sp>
        <p:nvSpPr>
          <p:cNvPr id="12" name="number circle"/>
          <p:cNvSpPr/>
          <p:nvPr/>
        </p:nvSpPr>
        <p:spPr>
          <a:xfrm>
            <a:off x="4206126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06126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431972" y="2971800"/>
            <a:ext cx="2554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判断基準が消える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31972" y="3931920"/>
            <a:ext cx="25541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何を直せばいいか不明</a:t>
            </a:r>
            <a:endParaRPr lang="en-US" sz="1500" dirty="0"/>
          </a:p>
        </p:txBody>
      </p:sp>
      <p:sp>
        <p:nvSpPr>
          <p:cNvPr id="16" name="number circle"/>
          <p:cNvSpPr/>
          <p:nvPr/>
        </p:nvSpPr>
        <p:spPr>
          <a:xfrm>
            <a:off x="6979730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7973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205576" y="2971800"/>
            <a:ext cx="2554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「もう少し直してから」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05576" y="3931920"/>
            <a:ext cx="25541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まだ足りない気がする</a:t>
            </a:r>
            <a:endParaRPr lang="en-US" sz="1500" dirty="0"/>
          </a:p>
        </p:txBody>
      </p:sp>
      <p:sp>
        <p:nvSpPr>
          <p:cNvPr id="20" name="number circle"/>
          <p:cNvSpPr/>
          <p:nvPr/>
        </p:nvSpPr>
        <p:spPr>
          <a:xfrm>
            <a:off x="9753333" y="169164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53333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979179" y="2971800"/>
            <a:ext cx="2554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一生、出ない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979179" y="3931920"/>
            <a:ext cx="25541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商品が世に出ない</a:t>
            </a:r>
            <a:endParaRPr lang="en-US" sz="1500" dirty="0"/>
          </a:p>
        </p:txBody>
      </p:sp>
      <p:sp>
        <p:nvSpPr>
          <p:cNvPr id="24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60点で出した人だけが、残りの40点を回収できる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60点とは妥協ではない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市場から残りの40点を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取りに行くスタートライン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100点を目指して止まるより、60点で出して育てる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【ミニワーク】60点チェック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</a:t>
            </a:r>
            <a:endParaRPr lang="en-US" sz="1400" dirty="0"/>
          </a:p>
        </p:txBody>
      </p:sp>
      <p:sp>
        <p:nvSpPr>
          <p:cNvPr id="5" name="check item"/>
          <p:cNvSpPr/>
          <p:nvPr/>
        </p:nvSpPr>
        <p:spPr>
          <a:xfrm>
            <a:off x="548640" y="14630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checkbox"/>
          <p:cNvSpPr/>
          <p:nvPr/>
        </p:nvSpPr>
        <p:spPr>
          <a:xfrm>
            <a:off x="82296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25400">
            <a:solidFill>
              <a:srgbClr val="1E3A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46304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誰のどんな悩みを解決するかが決まっている</a:t>
            </a:r>
            <a:endParaRPr lang="en-US" sz="2100" dirty="0"/>
          </a:p>
        </p:txBody>
      </p:sp>
      <p:sp>
        <p:nvSpPr>
          <p:cNvPr id="8" name="check item"/>
          <p:cNvSpPr/>
          <p:nvPr/>
        </p:nvSpPr>
        <p:spPr>
          <a:xfrm>
            <a:off x="548640" y="27889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9" name="checkbox"/>
          <p:cNvSpPr/>
          <p:nvPr/>
        </p:nvSpPr>
        <p:spPr>
          <a:xfrm>
            <a:off x="822960" y="310896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25400">
            <a:solidFill>
              <a:srgbClr val="1E3A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278892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その悩みに対する、自分なりの解決ルートがある</a:t>
            </a:r>
            <a:endParaRPr lang="en-US" sz="2100" dirty="0"/>
          </a:p>
        </p:txBody>
      </p:sp>
      <p:sp>
        <p:nvSpPr>
          <p:cNvPr id="11" name="check item"/>
          <p:cNvSpPr/>
          <p:nvPr/>
        </p:nvSpPr>
        <p:spPr>
          <a:xfrm>
            <a:off x="548640" y="4114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2" name="checkbox"/>
          <p:cNvSpPr/>
          <p:nvPr/>
        </p:nvSpPr>
        <p:spPr>
          <a:xfrm>
            <a:off x="822960" y="44348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25400">
            <a:solidFill>
              <a:srgbClr val="1E3A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411480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お金を払う理由として筋が通っている</a:t>
            </a:r>
            <a:endParaRPr lang="en-US" sz="2100" dirty="0"/>
          </a:p>
        </p:txBody>
      </p:sp>
      <p:sp>
        <p:nvSpPr>
          <p:cNvPr id="14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3つとも○なら出していい状態。×は第5講のワークで埋めます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73152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9070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第2講のまとめ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100点を目指して止まるより、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60点で出して育てる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それ以上の点数は、市場に出さなければ取りようがない</a:t>
            </a:r>
            <a:endParaRPr lang="en-US" sz="2000" dirty="0"/>
          </a:p>
        </p:txBody>
      </p:sp>
      <p:sp>
        <p:nvSpPr>
          <p:cNvPr id="7" name="next lecture"/>
          <p:cNvSpPr/>
          <p:nvPr/>
        </p:nvSpPr>
        <p:spPr>
          <a:xfrm>
            <a:off x="548640" y="5120640"/>
            <a:ext cx="6583680" cy="594360"/>
          </a:xfrm>
          <a:prstGeom prst="roundRect">
            <a:avLst>
              <a:gd name="adj" fmla="val 18462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51206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次の講：あなたを止める2つの敵　→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あなたを止める2つの敵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完璧主義とズレた努力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35分 ／ 原本：第3章・第4章</a:t>
            </a:r>
            <a:endParaRPr lang="en-US" sz="1600" dirty="0"/>
          </a:p>
        </p:txBody>
      </p:sp>
      <p:sp>
        <p:nvSpPr>
          <p:cNvPr id="5" name="goals box"/>
          <p:cNvSpPr/>
          <p:nvPr/>
        </p:nvSpPr>
        <p:spPr>
          <a:xfrm>
            <a:off x="548640" y="429768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この講のゴール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4632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完璧主義は「捨てる」のではなく「使うタイミングを変える」と理解する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自分がやっている「ズレた努力」を特定する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敵①　完璧主義は一見「正しそう」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クオリティを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上げたい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良いものを届けたい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53458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持ちたい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お金をもらう以上は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58277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適当なものは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出したくない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中途半端は嫌だ</a:t>
            </a:r>
            <a:endParaRPr lang="en-US" sz="1800" dirty="0"/>
          </a:p>
        </p:txBody>
      </p:sp>
      <p:sp>
        <p:nvSpPr>
          <p:cNvPr id="20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問題は、これが「行動を止める方向」に働くこと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なぜ完璧主義の人ほど動けないのか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判断基準が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「未来」に置かれている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「まだ足りない」「もっと良くできるはず」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答えのないテストを解いている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正解は、市場に出した後でしか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分からない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出す前に正解を決めようとするから、疲れてしまう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良い商品 ≠ 売れる商品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良い商品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作り手が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満足するもの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完璧主義の人ほど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こちらを作ろうとする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売れる商品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買い手が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行動するもの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最初に必要なのは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「売れるかを試せる商品」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完璧主義は優しさの裏返し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したくない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期待に応えたい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53458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迷惑を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かけたくない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相手を大切にしたい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58277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ガッカリ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させたくない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喜んでほしい</a:t>
            </a:r>
            <a:endParaRPr lang="en-US" sz="1800" dirty="0"/>
          </a:p>
        </p:txBody>
      </p:sp>
      <p:sp>
        <p:nvSpPr>
          <p:cNvPr id="20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自分を責めなくていい。問題は性格ではなく、戦い方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「出してから直す」という発想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出してから直す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妥協ではなく戦略。出さなければ、直すポイントが分からない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完璧主義を「武器」に変える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出す前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60点でOK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悩み・解決ルート・理由がそろえば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まず出す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出した後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完璧主義を発動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改善フェーズでこそ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真面目さが最大の強みになる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「出せない人」と「伸びる人」の分かれ道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出せない人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「完成」を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条件にする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自分が満足できるか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自分が納得できるか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2F6B5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伸びる人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「未完成」を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前提に出す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評価するのは市場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差は才能ではなく前提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敵②　頑張っているのに報われない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努力の「量」ではなく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「向き」がズレている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「正しい努力」のつもりで、「必要な努力」をしていない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ズレた努力①　発信を頑張りすぎる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広く浅い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内容になる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誰に向けているか曖昧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53458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当たり障りの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ない言葉になる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何を解決したいか曖昧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58277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誰にも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刺さらない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何をしてほしいか曖昧</a:t>
            </a:r>
            <a:endParaRPr lang="en-US" sz="1800" dirty="0"/>
          </a:p>
        </p:txBody>
      </p:sp>
      <p:sp>
        <p:nvSpPr>
          <p:cNvPr id="20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努力不足ではなく、設計不足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ズレた努力②　学び続けてしまう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left list"/>
          <p:cNvSpPr/>
          <p:nvPr/>
        </p:nvSpPr>
        <p:spPr>
          <a:xfrm>
            <a:off x="548640" y="1463040"/>
            <a:ext cx="3749040" cy="457200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次々と手を出す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次の教材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次のセミナー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次のノウハウ</a:t>
            </a:r>
            <a:endParaRPr lang="en-US" sz="1700" dirty="0"/>
          </a:p>
        </p:txBody>
      </p:sp>
      <p:sp>
        <p:nvSpPr>
          <p:cNvPr id="8" name="right list"/>
          <p:cNvSpPr/>
          <p:nvPr/>
        </p:nvSpPr>
        <p:spPr>
          <a:xfrm>
            <a:off x="7894015" y="1463040"/>
            <a:ext cx="3749040" cy="457200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14055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口ぐせになる言葉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14055" y="251460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学んでいるから大丈夫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今は準備期間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いずれ行動する</a:t>
            </a:r>
            <a:endParaRPr lang="en-US" sz="1700" dirty="0"/>
          </a:p>
        </p:txBody>
      </p:sp>
      <p:sp>
        <p:nvSpPr>
          <p:cNvPr id="11" name="center"/>
          <p:cNvSpPr/>
          <p:nvPr/>
        </p:nvSpPr>
        <p:spPr>
          <a:xfrm>
            <a:off x="4678528" y="1463040"/>
            <a:ext cx="2834640" cy="4572000"/>
          </a:xfrm>
          <a:prstGeom prst="roundRect">
            <a:avLst>
              <a:gd name="adj" fmla="val 4839"/>
            </a:avLst>
          </a:prstGeom>
          <a:solidFill>
            <a:schemeClr val="tx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5684368" y="192024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1878" y="2117750"/>
            <a:ext cx="427939" cy="42793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952848" y="29260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学びが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「安心材料」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に変わる</a:t>
            </a:r>
            <a:endParaRPr lang="en-US" sz="2800" dirty="0"/>
          </a:p>
        </p:txBody>
      </p:sp>
      <p:sp>
        <p:nvSpPr>
          <p:cNvPr id="15" name="arrow"/>
          <p:cNvSpPr/>
          <p:nvPr/>
        </p:nvSpPr>
        <p:spPr>
          <a:xfrm>
            <a:off x="4305224" y="356616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arrow"/>
          <p:cNvSpPr/>
          <p:nvPr/>
        </p:nvSpPr>
        <p:spPr>
          <a:xfrm>
            <a:off x="7520711" y="356616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ズレた努力③　テクニック探し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地盤のない土地に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家を建てるようなもの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売れる言い回しも最新の集客法も、土台がなければ効かない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ズレた努力が一番怖い理由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本人に「頑張っている自覚」がある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だから「ここまでやってダメなら無理」と思ってしまう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正しい努力は、実はとても地味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connector"/>
          <p:cNvSpPr/>
          <p:nvPr/>
        </p:nvSpPr>
        <p:spPr>
          <a:xfrm>
            <a:off x="2992069" y="2194560"/>
            <a:ext cx="2509418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6" name="connector"/>
          <p:cNvSpPr/>
          <p:nvPr/>
        </p:nvSpPr>
        <p:spPr>
          <a:xfrm>
            <a:off x="6690208" y="2194560"/>
            <a:ext cx="2509418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7" name="number circle"/>
          <p:cNvSpPr/>
          <p:nvPr/>
        </p:nvSpPr>
        <p:spPr>
          <a:xfrm>
            <a:off x="1894789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94789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商品を形にする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60点で出せる形に</a:t>
            </a:r>
            <a:endParaRPr lang="en-US" sz="1500" dirty="0"/>
          </a:p>
        </p:txBody>
      </p:sp>
      <p:sp>
        <p:nvSpPr>
          <p:cNvPr id="11" name="number circle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92928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356506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伝え方を考える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356506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誰に、どう届けるか</a:t>
            </a:r>
            <a:endParaRPr lang="en-US" sz="1500" dirty="0"/>
          </a:p>
        </p:txBody>
      </p:sp>
      <p:sp>
        <p:nvSpPr>
          <p:cNvPr id="15" name="number circle"/>
          <p:cNvSpPr/>
          <p:nvPr/>
        </p:nvSpPr>
        <p:spPr>
          <a:xfrm>
            <a:off x="9291066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91066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054645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反応を見て直す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054645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市場との対話</a:t>
            </a:r>
            <a:endParaRPr lang="en-US" sz="1500" dirty="0"/>
          </a:p>
        </p:txBody>
      </p:sp>
      <p:sp>
        <p:nvSpPr>
          <p:cNvPr id="19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ズレた努力は安心する。正しい努力は、言い訳ができない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【ミニワーク】ズレた努力チェック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400" dirty="0"/>
          </a:p>
        </p:txBody>
      </p:sp>
      <p:sp>
        <p:nvSpPr>
          <p:cNvPr id="5" name="check item"/>
          <p:cNvSpPr/>
          <p:nvPr/>
        </p:nvSpPr>
        <p:spPr>
          <a:xfrm>
            <a:off x="548640" y="1463040"/>
            <a:ext cx="538718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6" name="checkbox"/>
          <p:cNvSpPr/>
          <p:nvPr/>
        </p:nvSpPr>
        <p:spPr>
          <a:xfrm>
            <a:off x="822960" y="173736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25400">
            <a:solidFill>
              <a:srgbClr val="1E3A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463040"/>
            <a:ext cx="41984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売るものが決まっていないのに、毎日発信している</a:t>
            </a:r>
            <a:endParaRPr lang="en-US" sz="1800" dirty="0"/>
          </a:p>
        </p:txBody>
      </p:sp>
      <p:sp>
        <p:nvSpPr>
          <p:cNvPr id="8" name="check item"/>
          <p:cNvSpPr/>
          <p:nvPr/>
        </p:nvSpPr>
        <p:spPr>
          <a:xfrm>
            <a:off x="548640" y="2697480"/>
            <a:ext cx="538718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9" name="checkbox"/>
          <p:cNvSpPr/>
          <p:nvPr/>
        </p:nvSpPr>
        <p:spPr>
          <a:xfrm>
            <a:off x="82296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25400">
            <a:solidFill>
              <a:srgbClr val="1E3A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2697480"/>
            <a:ext cx="41984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「もう少し理解してから」が口ぐせ</a:t>
            </a:r>
            <a:endParaRPr lang="en-US" sz="1800" dirty="0"/>
          </a:p>
        </p:txBody>
      </p:sp>
      <p:sp>
        <p:nvSpPr>
          <p:cNvPr id="11" name="check item"/>
          <p:cNvSpPr/>
          <p:nvPr/>
        </p:nvSpPr>
        <p:spPr>
          <a:xfrm>
            <a:off x="548640" y="3931920"/>
            <a:ext cx="538718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2" name="checkbox"/>
          <p:cNvSpPr/>
          <p:nvPr/>
        </p:nvSpPr>
        <p:spPr>
          <a:xfrm>
            <a:off x="82296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25400">
            <a:solidFill>
              <a:srgbClr val="1E3A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931920"/>
            <a:ext cx="41984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買った教材が、まだ形になっていない</a:t>
            </a:r>
            <a:endParaRPr lang="en-US" sz="1800" dirty="0"/>
          </a:p>
        </p:txBody>
      </p:sp>
      <p:sp>
        <p:nvSpPr>
          <p:cNvPr id="14" name="check item"/>
          <p:cNvSpPr/>
          <p:nvPr/>
        </p:nvSpPr>
        <p:spPr>
          <a:xfrm>
            <a:off x="6255868" y="1463040"/>
            <a:ext cx="538718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5" name="checkbox"/>
          <p:cNvSpPr/>
          <p:nvPr/>
        </p:nvSpPr>
        <p:spPr>
          <a:xfrm>
            <a:off x="6530188" y="173736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25400">
            <a:solidFill>
              <a:srgbClr val="1E3A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1708" y="1463040"/>
            <a:ext cx="41984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「売れる言い回し」をよく探している</a:t>
            </a:r>
            <a:endParaRPr lang="en-US" sz="1800" dirty="0"/>
          </a:p>
        </p:txBody>
      </p:sp>
      <p:sp>
        <p:nvSpPr>
          <p:cNvPr id="17" name="check item"/>
          <p:cNvSpPr/>
          <p:nvPr/>
        </p:nvSpPr>
        <p:spPr>
          <a:xfrm>
            <a:off x="6255868" y="2697480"/>
            <a:ext cx="538718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8" name="checkbox"/>
          <p:cNvSpPr/>
          <p:nvPr/>
        </p:nvSpPr>
        <p:spPr>
          <a:xfrm>
            <a:off x="6530188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25400">
            <a:solidFill>
              <a:srgbClr val="1E3A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1708" y="2697480"/>
            <a:ext cx="41984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「もう少し直してから出そう」と思った商品がある</a:t>
            </a:r>
            <a:endParaRPr lang="en-US" sz="1800" dirty="0"/>
          </a:p>
        </p:txBody>
      </p:sp>
      <p:sp>
        <p:nvSpPr>
          <p:cNvPr id="20" name="check item"/>
          <p:cNvSpPr/>
          <p:nvPr/>
        </p:nvSpPr>
        <p:spPr>
          <a:xfrm>
            <a:off x="6255868" y="3931920"/>
            <a:ext cx="538718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1" name="checkbox"/>
          <p:cNvSpPr/>
          <p:nvPr/>
        </p:nvSpPr>
        <p:spPr>
          <a:xfrm>
            <a:off x="6530188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25400">
            <a:solidFill>
              <a:srgbClr val="1E3A3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61708" y="3931920"/>
            <a:ext cx="41984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自分が満足できるかで、出すかを決めている</a:t>
            </a:r>
            <a:endParaRPr lang="en-US" sz="1800" dirty="0"/>
          </a:p>
        </p:txBody>
      </p:sp>
      <p:sp>
        <p:nvSpPr>
          <p:cNvPr id="23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✓が多いほど、努力の「量」は十分。あとは「向き」を変えるだけ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73152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9070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第3講のまとめ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完璧主義は、出す前に使うと敵。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出した後に使うと最強の味方。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努力の向きを直せば、同じ努力が意味を持ち始める</a:t>
            </a:r>
            <a:endParaRPr lang="en-US" sz="2000" dirty="0"/>
          </a:p>
        </p:txBody>
      </p:sp>
      <p:sp>
        <p:nvSpPr>
          <p:cNvPr id="7" name="next lecture"/>
          <p:cNvSpPr/>
          <p:nvPr/>
        </p:nvSpPr>
        <p:spPr>
          <a:xfrm>
            <a:off x="548640" y="5120640"/>
            <a:ext cx="6583680" cy="594360"/>
          </a:xfrm>
          <a:prstGeom prst="roundRect">
            <a:avLst>
              <a:gd name="adj" fmla="val 18462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51206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次の講：正しい努力の5ステップ　→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第4講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正しい努力の5ステップ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30分 ／ 原本：第5章</a:t>
            </a:r>
            <a:endParaRPr lang="en-US" sz="1600" dirty="0"/>
          </a:p>
        </p:txBody>
      </p:sp>
      <p:sp>
        <p:nvSpPr>
          <p:cNvPr id="5" name="goals box"/>
          <p:cNvSpPr/>
          <p:nvPr/>
        </p:nvSpPr>
        <p:spPr>
          <a:xfrm>
            <a:off x="548640" y="429768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この講のゴール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4632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正しい努力の5ステップを、順番どおりに言えるようになる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なぜこの順番でないとダメなのかを理解する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正しい努力は「順番」が9割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順番がズレている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どれだけ頑張っても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空回りする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量を増やすほど疲れる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2F6B5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順番が合っている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少ない努力でも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前に進む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才能やセンスではなく、構造の問題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正しい努力の全体像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第4講</a:t>
            </a:r>
            <a:endParaRPr lang="en-US" sz="1400" dirty="0"/>
          </a:p>
        </p:txBody>
      </p:sp>
      <p:sp>
        <p:nvSpPr>
          <p:cNvPr id="5" name="connector"/>
          <p:cNvSpPr/>
          <p:nvPr/>
        </p:nvSpPr>
        <p:spPr>
          <a:xfrm>
            <a:off x="2183862" y="2125980"/>
            <a:ext cx="1167323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6" name="connector"/>
          <p:cNvSpPr/>
          <p:nvPr/>
        </p:nvSpPr>
        <p:spPr>
          <a:xfrm>
            <a:off x="4402745" y="2125980"/>
            <a:ext cx="1167323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7" name="connector"/>
          <p:cNvSpPr/>
          <p:nvPr/>
        </p:nvSpPr>
        <p:spPr>
          <a:xfrm>
            <a:off x="6621628" y="2125980"/>
            <a:ext cx="1167323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8" name="connector"/>
          <p:cNvSpPr/>
          <p:nvPr/>
        </p:nvSpPr>
        <p:spPr>
          <a:xfrm>
            <a:off x="8840511" y="2125980"/>
            <a:ext cx="1167323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9" name="number circle"/>
          <p:cNvSpPr/>
          <p:nvPr/>
        </p:nvSpPr>
        <p:spPr>
          <a:xfrm>
            <a:off x="1223742" y="16916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23742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3464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悩みを1つに絞る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794760"/>
            <a:ext cx="19994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誰の、どんな悩みか</a:t>
            </a:r>
            <a:endParaRPr lang="en-US" sz="1500" dirty="0"/>
          </a:p>
        </p:txBody>
      </p:sp>
      <p:sp>
        <p:nvSpPr>
          <p:cNvPr id="13" name="number circle"/>
          <p:cNvSpPr/>
          <p:nvPr/>
        </p:nvSpPr>
        <p:spPr>
          <a:xfrm>
            <a:off x="3442625" y="16916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42625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2877251" y="283464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60点の商品を作る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877251" y="3794760"/>
            <a:ext cx="19994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3つの条件を満たす</a:t>
            </a:r>
            <a:endParaRPr lang="en-US" sz="1500" dirty="0"/>
          </a:p>
        </p:txBody>
      </p:sp>
      <p:sp>
        <p:nvSpPr>
          <p:cNvPr id="17" name="number circle"/>
          <p:cNvSpPr/>
          <p:nvPr/>
        </p:nvSpPr>
        <p:spPr>
          <a:xfrm>
            <a:off x="5661508" y="16916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1508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096134" y="283464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売るための文脈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96134" y="3794760"/>
            <a:ext cx="19994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教育と納得の流れ</a:t>
            </a:r>
            <a:endParaRPr lang="en-US" sz="1500" dirty="0"/>
          </a:p>
        </p:txBody>
      </p:sp>
      <p:sp>
        <p:nvSpPr>
          <p:cNvPr id="21" name="number circle"/>
          <p:cNvSpPr/>
          <p:nvPr/>
        </p:nvSpPr>
        <p:spPr>
          <a:xfrm>
            <a:off x="7880391" y="16916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80391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315017" y="283464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小さく売る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017" y="3794760"/>
            <a:ext cx="19994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少人数・低リスク</a:t>
            </a:r>
            <a:endParaRPr lang="en-US" sz="1500" dirty="0"/>
          </a:p>
        </p:txBody>
      </p:sp>
      <p:sp>
        <p:nvSpPr>
          <p:cNvPr id="25" name="number circle"/>
          <p:cNvSpPr/>
          <p:nvPr/>
        </p:nvSpPr>
        <p:spPr>
          <a:xfrm>
            <a:off x="10099274" y="16916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99274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533900" y="283464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反応を見て改善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533900" y="3794760"/>
            <a:ext cx="19994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ここで完璧主義を使う</a:t>
            </a:r>
            <a:endParaRPr lang="en-US" sz="1500" dirty="0"/>
          </a:p>
        </p:txBody>
      </p:sp>
      <p:sp>
        <p:nvSpPr>
          <p:cNvPr id="29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これ以上でも、これ以下でもありません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ステップ1：悩みを1つに絞る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第4講</a:t>
            </a:r>
            <a:endParaRPr lang="en-US" sz="1400" dirty="0"/>
          </a:p>
        </p:txBody>
      </p:sp>
      <p:sp>
        <p:nvSpPr>
          <p:cNvPr id="5" name="progress"/>
          <p:cNvSpPr/>
          <p:nvPr/>
        </p:nvSpPr>
        <p:spPr>
          <a:xfrm>
            <a:off x="594360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悩みを1つに絞る</a:t>
            </a:r>
            <a:endParaRPr lang="en-US" sz="1300" dirty="0"/>
          </a:p>
        </p:txBody>
      </p:sp>
      <p:sp>
        <p:nvSpPr>
          <p:cNvPr id="7" name="progress"/>
          <p:cNvSpPr/>
          <p:nvPr/>
        </p:nvSpPr>
        <p:spPr>
          <a:xfrm>
            <a:off x="2813243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13243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60点の商品を作る</a:t>
            </a:r>
            <a:endParaRPr lang="en-US" sz="1300" dirty="0"/>
          </a:p>
        </p:txBody>
      </p:sp>
      <p:sp>
        <p:nvSpPr>
          <p:cNvPr id="9" name="progress"/>
          <p:cNvSpPr/>
          <p:nvPr/>
        </p:nvSpPr>
        <p:spPr>
          <a:xfrm>
            <a:off x="5032126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32126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売るための文脈</a:t>
            </a:r>
            <a:endParaRPr lang="en-US" sz="1300" dirty="0"/>
          </a:p>
        </p:txBody>
      </p:sp>
      <p:sp>
        <p:nvSpPr>
          <p:cNvPr id="11" name="progress"/>
          <p:cNvSpPr/>
          <p:nvPr/>
        </p:nvSpPr>
        <p:spPr>
          <a:xfrm>
            <a:off x="7251009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51009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小さく売る</a:t>
            </a:r>
            <a:endParaRPr lang="en-US" sz="1300" dirty="0"/>
          </a:p>
        </p:txBody>
      </p:sp>
      <p:sp>
        <p:nvSpPr>
          <p:cNvPr id="13" name="progress"/>
          <p:cNvSpPr/>
          <p:nvPr/>
        </p:nvSpPr>
        <p:spPr>
          <a:xfrm>
            <a:off x="9469892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69892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 反応を見て改善</a:t>
            </a:r>
            <a:endParaRPr lang="en-US" sz="1300" dirty="0"/>
          </a:p>
        </p:txBody>
      </p:sp>
      <p:sp>
        <p:nvSpPr>
          <p:cNvPr id="15" name="number circle"/>
          <p:cNvSpPr/>
          <p:nvPr/>
        </p:nvSpPr>
        <p:spPr>
          <a:xfrm>
            <a:off x="548640" y="2377440"/>
            <a:ext cx="1463040" cy="14630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3774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33172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最初にやるのは、商品づくりではない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063240"/>
            <a:ext cx="92656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誰に向けて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どんな問題を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どこまで解決するのか</a:t>
            </a:r>
            <a:endParaRPr lang="en-US" sz="2000" dirty="0"/>
          </a:p>
        </p:txBody>
      </p:sp>
      <p:sp>
        <p:nvSpPr>
          <p:cNvPr id="19" name="point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822960" y="52120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5365699"/>
            <a:ext cx="332842" cy="33284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91640" y="4983480"/>
            <a:ext cx="9677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「自分が一番わかる悩み」「過去に自分がハマった悩み」から始めるのが、一番再現性がある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ステップ2：60点の商品を作る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第4講</a:t>
            </a:r>
            <a:endParaRPr lang="en-US" sz="1400" dirty="0"/>
          </a:p>
        </p:txBody>
      </p:sp>
      <p:sp>
        <p:nvSpPr>
          <p:cNvPr id="5" name="progress"/>
          <p:cNvSpPr/>
          <p:nvPr/>
        </p:nvSpPr>
        <p:spPr>
          <a:xfrm>
            <a:off x="594360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悩みを1つに絞る</a:t>
            </a:r>
            <a:endParaRPr lang="en-US" sz="1300" dirty="0"/>
          </a:p>
        </p:txBody>
      </p:sp>
      <p:sp>
        <p:nvSpPr>
          <p:cNvPr id="7" name="progress"/>
          <p:cNvSpPr/>
          <p:nvPr/>
        </p:nvSpPr>
        <p:spPr>
          <a:xfrm>
            <a:off x="2813243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13243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60点の商品を作る</a:t>
            </a:r>
            <a:endParaRPr lang="en-US" sz="1300" dirty="0"/>
          </a:p>
        </p:txBody>
      </p:sp>
      <p:sp>
        <p:nvSpPr>
          <p:cNvPr id="9" name="progress"/>
          <p:cNvSpPr/>
          <p:nvPr/>
        </p:nvSpPr>
        <p:spPr>
          <a:xfrm>
            <a:off x="5032126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32126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売るための文脈</a:t>
            </a:r>
            <a:endParaRPr lang="en-US" sz="1300" dirty="0"/>
          </a:p>
        </p:txBody>
      </p:sp>
      <p:sp>
        <p:nvSpPr>
          <p:cNvPr id="11" name="progress"/>
          <p:cNvSpPr/>
          <p:nvPr/>
        </p:nvSpPr>
        <p:spPr>
          <a:xfrm>
            <a:off x="7251009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51009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小さく売る</a:t>
            </a:r>
            <a:endParaRPr lang="en-US" sz="1300" dirty="0"/>
          </a:p>
        </p:txBody>
      </p:sp>
      <p:sp>
        <p:nvSpPr>
          <p:cNvPr id="13" name="progress"/>
          <p:cNvSpPr/>
          <p:nvPr/>
        </p:nvSpPr>
        <p:spPr>
          <a:xfrm>
            <a:off x="9469892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69892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 反応を見て改善</a:t>
            </a:r>
            <a:endParaRPr lang="en-US" sz="1300" dirty="0"/>
          </a:p>
        </p:txBody>
      </p:sp>
      <p:sp>
        <p:nvSpPr>
          <p:cNvPr id="15" name="number circle"/>
          <p:cNvSpPr/>
          <p:nvPr/>
        </p:nvSpPr>
        <p:spPr>
          <a:xfrm>
            <a:off x="548640" y="2377440"/>
            <a:ext cx="1463040" cy="14630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3774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33172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この3つを満たせば十分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063240"/>
            <a:ext cx="92656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悩みが明確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解決ルートが示されている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お金を払う理由がある</a:t>
            </a:r>
            <a:endParaRPr lang="en-US" sz="2000" dirty="0"/>
          </a:p>
        </p:txBody>
      </p:sp>
      <p:sp>
        <p:nvSpPr>
          <p:cNvPr id="19" name="point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822960" y="52120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5365699"/>
            <a:ext cx="332842" cy="33284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91640" y="4983480"/>
            <a:ext cx="9677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デザインや表現の美しさは、後回しでかまわない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ステップ3：売るための「文脈」を用意する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第4講</a:t>
            </a:r>
            <a:endParaRPr lang="en-US" sz="1400" dirty="0"/>
          </a:p>
        </p:txBody>
      </p:sp>
      <p:sp>
        <p:nvSpPr>
          <p:cNvPr id="5" name="progress"/>
          <p:cNvSpPr/>
          <p:nvPr/>
        </p:nvSpPr>
        <p:spPr>
          <a:xfrm>
            <a:off x="594360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悩みを1つに絞る</a:t>
            </a:r>
            <a:endParaRPr lang="en-US" sz="1300" dirty="0"/>
          </a:p>
        </p:txBody>
      </p:sp>
      <p:sp>
        <p:nvSpPr>
          <p:cNvPr id="7" name="progress"/>
          <p:cNvSpPr/>
          <p:nvPr/>
        </p:nvSpPr>
        <p:spPr>
          <a:xfrm>
            <a:off x="2813243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13243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60点の商品を作る</a:t>
            </a:r>
            <a:endParaRPr lang="en-US" sz="1300" dirty="0"/>
          </a:p>
        </p:txBody>
      </p:sp>
      <p:sp>
        <p:nvSpPr>
          <p:cNvPr id="9" name="progress"/>
          <p:cNvSpPr/>
          <p:nvPr/>
        </p:nvSpPr>
        <p:spPr>
          <a:xfrm>
            <a:off x="5032126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32126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売るための文脈</a:t>
            </a:r>
            <a:endParaRPr lang="en-US" sz="1300" dirty="0"/>
          </a:p>
        </p:txBody>
      </p:sp>
      <p:sp>
        <p:nvSpPr>
          <p:cNvPr id="11" name="progress"/>
          <p:cNvSpPr/>
          <p:nvPr/>
        </p:nvSpPr>
        <p:spPr>
          <a:xfrm>
            <a:off x="7251009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51009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小さく売る</a:t>
            </a:r>
            <a:endParaRPr lang="en-US" sz="1300" dirty="0"/>
          </a:p>
        </p:txBody>
      </p:sp>
      <p:sp>
        <p:nvSpPr>
          <p:cNvPr id="13" name="progress"/>
          <p:cNvSpPr/>
          <p:nvPr/>
        </p:nvSpPr>
        <p:spPr>
          <a:xfrm>
            <a:off x="9469892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69892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 反応を見て改善</a:t>
            </a:r>
            <a:endParaRPr lang="en-US" sz="1300" dirty="0"/>
          </a:p>
        </p:txBody>
      </p:sp>
      <p:sp>
        <p:nvSpPr>
          <p:cNvPr id="15" name="number circle"/>
          <p:cNvSpPr/>
          <p:nvPr/>
        </p:nvSpPr>
        <p:spPr>
          <a:xfrm>
            <a:off x="548640" y="2377440"/>
            <a:ext cx="1463040" cy="14630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3774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33172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人は、いきなり買わない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063240"/>
            <a:ext cx="92656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なぜ、この問題が重要なのか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なぜ、今まで解決できなかったのか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なぜ、この商品なのか</a:t>
            </a:r>
            <a:endParaRPr lang="en-US" sz="2000" dirty="0"/>
          </a:p>
        </p:txBody>
      </p:sp>
      <p:sp>
        <p:nvSpPr>
          <p:cNvPr id="19" name="point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822960" y="52120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5365699"/>
            <a:ext cx="332842" cy="33284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91640" y="4983480"/>
            <a:ext cx="9677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必要なのは「教育」と「納得」。この流れがあるかないかで、結果は大きく変わる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ステップ4：小さく売る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第4講</a:t>
            </a:r>
            <a:endParaRPr lang="en-US" sz="1400" dirty="0"/>
          </a:p>
        </p:txBody>
      </p:sp>
      <p:sp>
        <p:nvSpPr>
          <p:cNvPr id="5" name="progress"/>
          <p:cNvSpPr/>
          <p:nvPr/>
        </p:nvSpPr>
        <p:spPr>
          <a:xfrm>
            <a:off x="594360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悩みを1つに絞る</a:t>
            </a:r>
            <a:endParaRPr lang="en-US" sz="1300" dirty="0"/>
          </a:p>
        </p:txBody>
      </p:sp>
      <p:sp>
        <p:nvSpPr>
          <p:cNvPr id="7" name="progress"/>
          <p:cNvSpPr/>
          <p:nvPr/>
        </p:nvSpPr>
        <p:spPr>
          <a:xfrm>
            <a:off x="2813243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13243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60点の商品を作る</a:t>
            </a:r>
            <a:endParaRPr lang="en-US" sz="1300" dirty="0"/>
          </a:p>
        </p:txBody>
      </p:sp>
      <p:sp>
        <p:nvSpPr>
          <p:cNvPr id="9" name="progress"/>
          <p:cNvSpPr/>
          <p:nvPr/>
        </p:nvSpPr>
        <p:spPr>
          <a:xfrm>
            <a:off x="5032126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32126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売るための文脈</a:t>
            </a:r>
            <a:endParaRPr lang="en-US" sz="1300" dirty="0"/>
          </a:p>
        </p:txBody>
      </p:sp>
      <p:sp>
        <p:nvSpPr>
          <p:cNvPr id="11" name="progress"/>
          <p:cNvSpPr/>
          <p:nvPr/>
        </p:nvSpPr>
        <p:spPr>
          <a:xfrm>
            <a:off x="7251009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51009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小さく売る</a:t>
            </a:r>
            <a:endParaRPr lang="en-US" sz="1300" dirty="0"/>
          </a:p>
        </p:txBody>
      </p:sp>
      <p:sp>
        <p:nvSpPr>
          <p:cNvPr id="13" name="progress"/>
          <p:cNvSpPr/>
          <p:nvPr/>
        </p:nvSpPr>
        <p:spPr>
          <a:xfrm>
            <a:off x="9469892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69892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 反応を見て改善</a:t>
            </a:r>
            <a:endParaRPr lang="en-US" sz="1300" dirty="0"/>
          </a:p>
        </p:txBody>
      </p:sp>
      <p:sp>
        <p:nvSpPr>
          <p:cNvPr id="15" name="number circle"/>
          <p:cNvSpPr/>
          <p:nvPr/>
        </p:nvSpPr>
        <p:spPr>
          <a:xfrm>
            <a:off x="548640" y="2377440"/>
            <a:ext cx="1463040" cy="14630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3774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33172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いきなり大きく売ろうとしない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063240"/>
            <a:ext cx="92656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少人数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低リスク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テスト感覚</a:t>
            </a:r>
            <a:endParaRPr lang="en-US" sz="2000" dirty="0"/>
          </a:p>
        </p:txBody>
      </p:sp>
      <p:sp>
        <p:nvSpPr>
          <p:cNvPr id="19" name="point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822960" y="52120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5365699"/>
            <a:ext cx="332842" cy="33284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91640" y="4983480"/>
            <a:ext cx="9677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ここで得たいのは売上よりも「反応」。高額商品や大量集客は、後でいい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ステップ5：反応を見て改善する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第4講</a:t>
            </a:r>
            <a:endParaRPr lang="en-US" sz="1400" dirty="0"/>
          </a:p>
        </p:txBody>
      </p:sp>
      <p:sp>
        <p:nvSpPr>
          <p:cNvPr id="5" name="progress"/>
          <p:cNvSpPr/>
          <p:nvPr/>
        </p:nvSpPr>
        <p:spPr>
          <a:xfrm>
            <a:off x="594360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悩みを1つに絞る</a:t>
            </a:r>
            <a:endParaRPr lang="en-US" sz="1300" dirty="0"/>
          </a:p>
        </p:txBody>
      </p:sp>
      <p:sp>
        <p:nvSpPr>
          <p:cNvPr id="7" name="progress"/>
          <p:cNvSpPr/>
          <p:nvPr/>
        </p:nvSpPr>
        <p:spPr>
          <a:xfrm>
            <a:off x="2813243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13243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60点の商品を作る</a:t>
            </a:r>
            <a:endParaRPr lang="en-US" sz="1300" dirty="0"/>
          </a:p>
        </p:txBody>
      </p:sp>
      <p:sp>
        <p:nvSpPr>
          <p:cNvPr id="9" name="progress"/>
          <p:cNvSpPr/>
          <p:nvPr/>
        </p:nvSpPr>
        <p:spPr>
          <a:xfrm>
            <a:off x="5032126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32126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売るための文脈</a:t>
            </a:r>
            <a:endParaRPr lang="en-US" sz="1300" dirty="0"/>
          </a:p>
        </p:txBody>
      </p:sp>
      <p:sp>
        <p:nvSpPr>
          <p:cNvPr id="11" name="progress"/>
          <p:cNvSpPr/>
          <p:nvPr/>
        </p:nvSpPr>
        <p:spPr>
          <a:xfrm>
            <a:off x="7251009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51009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小さく売る</a:t>
            </a:r>
            <a:endParaRPr lang="en-US" sz="1300" dirty="0"/>
          </a:p>
        </p:txBody>
      </p:sp>
      <p:sp>
        <p:nvSpPr>
          <p:cNvPr id="13" name="progress"/>
          <p:cNvSpPr/>
          <p:nvPr/>
        </p:nvSpPr>
        <p:spPr>
          <a:xfrm>
            <a:off x="9469892" y="1371600"/>
            <a:ext cx="2127443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69892" y="1371600"/>
            <a:ext cx="2127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 反応を見て改善</a:t>
            </a:r>
            <a:endParaRPr lang="en-US" sz="1300" dirty="0"/>
          </a:p>
        </p:txBody>
      </p:sp>
      <p:sp>
        <p:nvSpPr>
          <p:cNvPr id="15" name="number circle"/>
          <p:cNvSpPr/>
          <p:nvPr/>
        </p:nvSpPr>
        <p:spPr>
          <a:xfrm>
            <a:off x="548640" y="2377440"/>
            <a:ext cx="1463040" cy="14630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3774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331720"/>
            <a:ext cx="9265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ここで初めて、完璧主義の出番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063240"/>
            <a:ext cx="92656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どこで離脱したか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どこに反応があったか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どこが伝わっていないか</a:t>
            </a:r>
            <a:endParaRPr lang="en-US" sz="2000" dirty="0"/>
          </a:p>
        </p:txBody>
      </p:sp>
      <p:sp>
        <p:nvSpPr>
          <p:cNvPr id="19" name="point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822960" y="52120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5365699"/>
            <a:ext cx="332842" cy="33284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691640" y="4983480"/>
            <a:ext cx="9677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このステップを回した人だけが、次に進める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なぜこの順番でないとダメなのか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第4講</a:t>
            </a:r>
            <a:endParaRPr lang="en-US" sz="1400" dirty="0"/>
          </a:p>
        </p:txBody>
      </p:sp>
      <p:sp>
        <p:nvSpPr>
          <p:cNvPr id="5" name="connector"/>
          <p:cNvSpPr/>
          <p:nvPr/>
        </p:nvSpPr>
        <p:spPr>
          <a:xfrm>
            <a:off x="2992069" y="2194560"/>
            <a:ext cx="2509418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6" name="connector"/>
          <p:cNvSpPr/>
          <p:nvPr/>
        </p:nvSpPr>
        <p:spPr>
          <a:xfrm>
            <a:off x="6690208" y="2194560"/>
            <a:ext cx="2509418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7" name="number circle"/>
          <p:cNvSpPr/>
          <p:nvPr/>
        </p:nvSpPr>
        <p:spPr>
          <a:xfrm>
            <a:off x="1894789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94789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商品がないと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文脈は作れない</a:t>
            </a:r>
            <a:endParaRPr lang="en-US" sz="1500" dirty="0"/>
          </a:p>
        </p:txBody>
      </p:sp>
      <p:sp>
        <p:nvSpPr>
          <p:cNvPr id="11" name="number circle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92928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356506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文脈がないと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356506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売れない</a:t>
            </a:r>
            <a:endParaRPr lang="en-US" sz="1500" dirty="0"/>
          </a:p>
        </p:txBody>
      </p:sp>
      <p:sp>
        <p:nvSpPr>
          <p:cNvPr id="15" name="number circle"/>
          <p:cNvSpPr/>
          <p:nvPr/>
        </p:nvSpPr>
        <p:spPr>
          <a:xfrm>
            <a:off x="9291066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91066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054645" y="2971800"/>
            <a:ext cx="347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売らないと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054645" y="3931920"/>
            <a:ext cx="34786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改善できない</a:t>
            </a:r>
            <a:endParaRPr lang="en-US" sz="1500" dirty="0"/>
          </a:p>
        </p:txBody>
      </p:sp>
      <p:sp>
        <p:nvSpPr>
          <p:cNvPr id="19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後ろのステップは、前のステップがないと意味を持たない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正しい努力は、不安になる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ズレた努力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安心する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「まだ準備中」と言える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やっている感がある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正しい努力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不安になる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数字・反応・結果が見える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言い訳ができない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問いかけ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第4講</a:t>
            </a:r>
            <a:endParaRPr lang="en-US" sz="1400" dirty="0"/>
          </a:p>
        </p:txBody>
      </p:sp>
      <p:sp>
        <p:nvSpPr>
          <p:cNvPr id="5" name="question panel"/>
          <p:cNvSpPr/>
          <p:nvPr/>
        </p:nvSpPr>
        <p:spPr>
          <a:xfrm>
            <a:off x="548640" y="1463040"/>
            <a:ext cx="11094415" cy="448056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1097280" y="1828800"/>
            <a:ext cx="1097280" cy="109728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627" y="2092147"/>
            <a:ext cx="570586" cy="5705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468880" y="1828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受講者への問いかけ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154680"/>
            <a:ext cx="9997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5ステップのうち、これまで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「飛ばしていた」ステップはどれですか？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498348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多くの人は、ステップ1・3・5を飛ばしています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73152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9070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第4講のまとめ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結果は、努力の量ではなく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努力の順番で決まる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足りなかったのは根性でも才能でもなく「地図」</a:t>
            </a:r>
            <a:endParaRPr lang="en-US" sz="2000" dirty="0"/>
          </a:p>
        </p:txBody>
      </p:sp>
      <p:sp>
        <p:nvSpPr>
          <p:cNvPr id="7" name="next lecture"/>
          <p:cNvSpPr/>
          <p:nvPr/>
        </p:nvSpPr>
        <p:spPr>
          <a:xfrm>
            <a:off x="548640" y="5120640"/>
            <a:ext cx="6583680" cy="594360"/>
          </a:xfrm>
          <a:prstGeom prst="roundRect">
            <a:avLst>
              <a:gd name="adj" fmla="val 18462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51206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次の講：【ワーク】最初の一歩は紙1枚　→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第5講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【ワーク】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最初の一歩は紙1枚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30分 ／ 原本：第6章</a:t>
            </a:r>
            <a:endParaRPr lang="en-US" sz="1600" dirty="0"/>
          </a:p>
        </p:txBody>
      </p:sp>
      <p:sp>
        <p:nvSpPr>
          <p:cNvPr id="5" name="goals box"/>
          <p:cNvSpPr/>
          <p:nvPr/>
        </p:nvSpPr>
        <p:spPr>
          <a:xfrm>
            <a:off x="548640" y="429768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この講のゴール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4632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講座の中で「紙1枚」を書き終える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最初の一歩は「作ること」ではなく「決めること」だと体験する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頭では分かった。でも、ここで止まる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最初の一歩が、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一番怖い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「順番が大事」「商品から」「60点でいい」……それでも止まる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最初の一歩を重くしていませんか？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重すぎる一歩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それは二歩目・三歩目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商品を完成させる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販売ページを作る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売り出す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2F6B5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本当の一歩目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「決めること」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誰の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どんな悩みを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どこまで扱うのか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悩みが決まると、次の行動が決まる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書くか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書く内容が決まる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53458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話すか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話すテーマが決まる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58277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削るか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やらないことが決まる</a:t>
            </a:r>
            <a:endParaRPr lang="en-US" sz="1800" dirty="0"/>
          </a:p>
        </p:txBody>
      </p:sp>
      <p:sp>
        <p:nvSpPr>
          <p:cNvPr id="20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すべての判断基準が、一つに収束する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完璧な悩み選定は必要ない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過去に自分が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悩んだ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当事者として分かる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53458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使った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それだけ詳しい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58277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試行錯誤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した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自分なりの答えがある</a:t>
            </a:r>
            <a:endParaRPr lang="en-US" sz="1800" dirty="0"/>
          </a:p>
        </p:txBody>
      </p:sp>
      <p:sp>
        <p:nvSpPr>
          <p:cNvPr id="20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この条件を満たしていれば十分。正解である必要はない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今日やることは、紙1枚だけ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第5講</a:t>
            </a:r>
            <a:endParaRPr lang="en-US" sz="1400" dirty="0"/>
          </a:p>
        </p:txBody>
      </p:sp>
      <p:sp>
        <p:nvSpPr>
          <p:cNvPr id="5" name="row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6" name="number circle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4630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誰の悩みか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463040"/>
            <a:ext cx="4236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迷ったら「過去の自分」でOK</a:t>
            </a:r>
            <a:endParaRPr lang="en-US" sz="1700" dirty="0"/>
          </a:p>
        </p:txBody>
      </p:sp>
      <p:sp>
        <p:nvSpPr>
          <p:cNvPr id="10" name="row"/>
          <p:cNvSpPr/>
          <p:nvPr/>
        </p:nvSpPr>
        <p:spPr>
          <a:xfrm>
            <a:off x="548640" y="2852928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1" name="number circle"/>
          <p:cNvSpPr/>
          <p:nvPr/>
        </p:nvSpPr>
        <p:spPr>
          <a:xfrm>
            <a:off x="822960" y="3081528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0815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285292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その人は何に困っているか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852928"/>
            <a:ext cx="4236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その人が口にしそうな言葉で</a:t>
            </a:r>
            <a:endParaRPr lang="en-US" sz="1700" dirty="0"/>
          </a:p>
        </p:txBody>
      </p:sp>
      <p:sp>
        <p:nvSpPr>
          <p:cNvPr id="15" name="row"/>
          <p:cNvSpPr/>
          <p:nvPr/>
        </p:nvSpPr>
        <p:spPr>
          <a:xfrm>
            <a:off x="548640" y="4242816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6" name="number circle"/>
          <p:cNvSpPr/>
          <p:nvPr/>
        </p:nvSpPr>
        <p:spPr>
          <a:xfrm>
            <a:off x="822960" y="4471416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714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242816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自分は何を伝えられるか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242816"/>
            <a:ext cx="4236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試行錯誤して分かったこと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【ワーク】紙1枚を書く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第5講</a:t>
            </a:r>
            <a:endParaRPr lang="en-US" sz="1400" dirty="0"/>
          </a:p>
        </p:txBody>
      </p:sp>
      <p:sp>
        <p:nvSpPr>
          <p:cNvPr id="5" name="timer"/>
          <p:cNvSpPr/>
          <p:nvPr/>
        </p:nvSpPr>
        <p:spPr>
          <a:xfrm>
            <a:off x="731520" y="1645920"/>
            <a:ext cx="3108960" cy="3108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15分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</a:t>
            </a:r>
            <a:endParaRPr lang="en-US" sz="2200" dirty="0"/>
          </a:p>
        </p:txBody>
      </p:sp>
      <p:sp>
        <p:nvSpPr>
          <p:cNvPr id="8" name="work step"/>
          <p:cNvSpPr/>
          <p:nvPr/>
        </p:nvSpPr>
        <p:spPr>
          <a:xfrm>
            <a:off x="4480560" y="1508760"/>
            <a:ext cx="716249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9" name="number circle"/>
          <p:cNvSpPr/>
          <p:nvPr/>
        </p:nvSpPr>
        <p:spPr>
          <a:xfrm>
            <a:off x="4709160" y="17373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508760"/>
            <a:ext cx="5973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　① 誰の悩みか（迷ったら過去の自分）</a:t>
            </a:r>
            <a:endParaRPr lang="en-US" sz="1900" dirty="0"/>
          </a:p>
        </p:txBody>
      </p:sp>
      <p:sp>
        <p:nvSpPr>
          <p:cNvPr id="12" name="work step"/>
          <p:cNvSpPr/>
          <p:nvPr/>
        </p:nvSpPr>
        <p:spPr>
          <a:xfrm>
            <a:off x="4480560" y="2697480"/>
            <a:ext cx="716249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3" name="number circle"/>
          <p:cNvSpPr/>
          <p:nvPr/>
        </p:nvSpPr>
        <p:spPr>
          <a:xfrm>
            <a:off x="4709160" y="29260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697480"/>
            <a:ext cx="5973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　② 何に困っているか（その人の言葉で）</a:t>
            </a:r>
            <a:endParaRPr lang="en-US" sz="1900" dirty="0"/>
          </a:p>
        </p:txBody>
      </p:sp>
      <p:sp>
        <p:nvSpPr>
          <p:cNvPr id="16" name="work step"/>
          <p:cNvSpPr/>
          <p:nvPr/>
        </p:nvSpPr>
        <p:spPr>
          <a:xfrm>
            <a:off x="4480560" y="3886200"/>
            <a:ext cx="716249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7" name="number circle"/>
          <p:cNvSpPr/>
          <p:nvPr/>
        </p:nvSpPr>
        <p:spPr>
          <a:xfrm>
            <a:off x="4709160" y="41148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091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886200"/>
            <a:ext cx="5973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　③ 自分は何を伝えられるか（箇条書き）</a:t>
            </a:r>
            <a:endParaRPr lang="en-US" sz="1900" dirty="0"/>
          </a:p>
        </p:txBody>
      </p:sp>
      <p:sp>
        <p:nvSpPr>
          <p:cNvPr id="20" name="work step"/>
          <p:cNvSpPr/>
          <p:nvPr/>
        </p:nvSpPr>
        <p:spPr>
          <a:xfrm>
            <a:off x="4480560" y="5074920"/>
            <a:ext cx="716249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1" name="number circle"/>
          <p:cNvSpPr/>
          <p:nvPr/>
        </p:nvSpPr>
        <p:spPr>
          <a:xfrm>
            <a:off x="4709160" y="53035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0916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5074920"/>
            <a:ext cx="5973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　2〜3人に発表してもらう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「失敗したらどうする？」という不安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失敗します。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それでいい。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失敗は「データ」。次の一手を教えてくれます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最初の一歩は勇気ではない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必要なのは「設計」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怖くならないサイズに、行動を分解する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73152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90708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第5講のまとめ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作らなくていい。売らなくていい。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まず、決める。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今日、あなたのコンテンツ販売は始まりました</a:t>
            </a:r>
            <a:endParaRPr lang="en-US" sz="2000" dirty="0"/>
          </a:p>
        </p:txBody>
      </p:sp>
      <p:sp>
        <p:nvSpPr>
          <p:cNvPr id="7" name="next lecture"/>
          <p:cNvSpPr/>
          <p:nvPr/>
        </p:nvSpPr>
        <p:spPr>
          <a:xfrm>
            <a:off x="548640" y="5120640"/>
            <a:ext cx="6583680" cy="594360"/>
          </a:xfrm>
          <a:prstGeom prst="roundRect">
            <a:avLst>
              <a:gd name="adj" fmla="val 18462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51206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次の講：続けられる人の思考と、30日ロードマップ　→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続けられる人の思考と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30日ロードマップ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35分 ／ 原本：第7章・第8章</a:t>
            </a:r>
            <a:endParaRPr lang="en-US" sz="1600" dirty="0"/>
          </a:p>
        </p:txBody>
      </p:sp>
      <p:sp>
        <p:nvSpPr>
          <p:cNvPr id="5" name="goals box"/>
          <p:cNvSpPr/>
          <p:nvPr/>
        </p:nvSpPr>
        <p:spPr>
          <a:xfrm>
            <a:off x="548640" y="4297680"/>
            <a:ext cx="11094415" cy="178308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この講のゴール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4632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「結果」ではなく「行動」を基準にする考え方を持ち帰る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明日からの30日間で何をするかを決める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講座全体を「一本の線」として整理する</a:t>
            </a:r>
            <a:endParaRPr 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最後に勝つのは「続けられる人」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結果は「続けられるか」で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ほぼ決まる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ノウハウの差でも、努力量の差でもない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なぜ途中で止まってしまうのか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思っていたより、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すぐに結果が出ないから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最初は誰でも、やる気があります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続かない人と続く人の「基準」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続かない人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「結果」が基準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売れたか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反応があったか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数字が伸びたか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2F6B5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続く人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「行動」が基準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今日、やるべき一手をやったか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行動はコントロールできる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失敗のとらえ方が違う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sp>
        <p:nvSpPr>
          <p:cNvPr id="5" name="left panel"/>
          <p:cNvSpPr/>
          <p:nvPr/>
        </p:nvSpPr>
        <p:spPr>
          <a:xfrm>
            <a:off x="548640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0043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続かない人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失敗は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「やってはいけないもの」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失敗しそうになると止まる</a:t>
            </a:r>
            <a:endParaRPr lang="en-US" sz="1800" dirty="0"/>
          </a:p>
        </p:txBody>
      </p:sp>
      <p:sp>
        <p:nvSpPr>
          <p:cNvPr id="11" name="right panel"/>
          <p:cNvSpPr/>
          <p:nvPr/>
        </p:nvSpPr>
        <p:spPr>
          <a:xfrm>
            <a:off x="6568135" y="1463040"/>
            <a:ext cx="5074920" cy="4572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6933895" y="1828800"/>
            <a:ext cx="731520" cy="731520"/>
          </a:xfrm>
          <a:prstGeom prst="ellipse">
            <a:avLst/>
          </a:prstGeom>
          <a:solidFill>
            <a:srgbClr val="2F6B5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0043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48295" y="1828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続く人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933895" y="27889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失敗は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「次の修正点」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933895" y="420624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感情ではなく、情報として扱う</a:t>
            </a:r>
            <a:endParaRPr lang="en-US" sz="1800" dirty="0"/>
          </a:p>
        </p:txBody>
      </p:sp>
      <p:sp>
        <p:nvSpPr>
          <p:cNvPr id="17" name="arrow"/>
          <p:cNvSpPr/>
          <p:nvPr/>
        </p:nvSpPr>
        <p:spPr>
          <a:xfrm>
            <a:off x="5775808" y="3429000"/>
            <a:ext cx="64008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モチベーションに頼らない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やる気ではなく、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小さく動ける「設計」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やる気があるからやる、という発想を最初から捨てる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「小さな成功」を定義する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悩みを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一つ決めた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これも前進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53458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書いた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これも前進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58277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一文だけ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書いた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これも前進</a:t>
            </a:r>
            <a:endParaRPr lang="en-US" sz="1800" dirty="0"/>
          </a:p>
        </p:txBody>
      </p:sp>
      <p:sp>
        <p:nvSpPr>
          <p:cNvPr id="20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だから毎日勝てる。毎日勝てる人は、続く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一気に変わろうとしない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一発で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当てたい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大きな成果を急ぐ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53458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4673498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9696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73498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最短で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結果を出したい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73498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近道を探してしまう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158277" y="1463040"/>
            <a:ext cx="3484778" cy="3794760"/>
          </a:xfrm>
          <a:prstGeom prst="roundRect">
            <a:avLst>
              <a:gd name="adj" fmla="val 3936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478317" y="1783080"/>
            <a:ext cx="777240" cy="77724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54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78317" y="274320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無駄を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省きたい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78317" y="393192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試行錯誤を避ける</a:t>
            </a:r>
            <a:endParaRPr lang="en-US" sz="1800" dirty="0"/>
          </a:p>
        </p:txBody>
      </p:sp>
      <p:sp>
        <p:nvSpPr>
          <p:cNvPr id="20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気持ちは分かる。でも、これが一番の遠回り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続けられる人は「淡々」としている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売れても浮かれない。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売れなくても落ち込まない。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淡々と次の一手を打つ。それは長期戦の構え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「やめない」だけで、上位に入る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やめない人は、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それだけで上位に残る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才能は、後から追いつきます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この講座で伝えたかった、たった一つのこと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才能の勝負ではない。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順番の勝負である。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違いは「どこから始め、何を後回しにしたか」だけ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ここまでの内容を「一本の線」にする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sp>
        <p:nvSpPr>
          <p:cNvPr id="5" name="connector"/>
          <p:cNvSpPr/>
          <p:nvPr/>
        </p:nvSpPr>
        <p:spPr>
          <a:xfrm>
            <a:off x="2183862" y="2125980"/>
            <a:ext cx="1167323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6" name="connector"/>
          <p:cNvSpPr/>
          <p:nvPr/>
        </p:nvSpPr>
        <p:spPr>
          <a:xfrm>
            <a:off x="4402745" y="2125980"/>
            <a:ext cx="1167323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7" name="connector"/>
          <p:cNvSpPr/>
          <p:nvPr/>
        </p:nvSpPr>
        <p:spPr>
          <a:xfrm>
            <a:off x="6621628" y="2125980"/>
            <a:ext cx="1167323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8" name="connector"/>
          <p:cNvSpPr/>
          <p:nvPr/>
        </p:nvSpPr>
        <p:spPr>
          <a:xfrm>
            <a:off x="8840511" y="2125980"/>
            <a:ext cx="1167323" cy="0"/>
          </a:xfrm>
          <a:prstGeom prst="line">
            <a:avLst/>
          </a:prstGeom>
          <a:noFill/>
          <a:ln w="38100">
            <a:solidFill>
              <a:srgbClr val="8FB9A8"/>
            </a:solidFill>
            <a:prstDash val="solid"/>
            <a:tailEnd type="triangle"/>
          </a:ln>
        </p:spPr>
      </p:sp>
      <p:sp>
        <p:nvSpPr>
          <p:cNvPr id="9" name="number circle"/>
          <p:cNvSpPr/>
          <p:nvPr/>
        </p:nvSpPr>
        <p:spPr>
          <a:xfrm>
            <a:off x="1223742" y="16916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23742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3464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勘違いを捨てる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794760"/>
            <a:ext cx="19994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第0〜2講</a:t>
            </a:r>
            <a:endParaRPr lang="en-US" sz="1500" dirty="0"/>
          </a:p>
        </p:txBody>
      </p:sp>
      <p:sp>
        <p:nvSpPr>
          <p:cNvPr id="13" name="number circle"/>
          <p:cNvSpPr/>
          <p:nvPr/>
        </p:nvSpPr>
        <p:spPr>
          <a:xfrm>
            <a:off x="3442625" y="16916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42625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2877251" y="283464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敵を知る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877251" y="3794760"/>
            <a:ext cx="19994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第3講</a:t>
            </a:r>
            <a:endParaRPr lang="en-US" sz="1500" dirty="0"/>
          </a:p>
        </p:txBody>
      </p:sp>
      <p:sp>
        <p:nvSpPr>
          <p:cNvPr id="17" name="number circle"/>
          <p:cNvSpPr/>
          <p:nvPr/>
        </p:nvSpPr>
        <p:spPr>
          <a:xfrm>
            <a:off x="5661508" y="16916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1508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096134" y="283464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順番を知る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96134" y="3794760"/>
            <a:ext cx="19994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第4講</a:t>
            </a:r>
            <a:endParaRPr lang="en-US" sz="1500" dirty="0"/>
          </a:p>
        </p:txBody>
      </p:sp>
      <p:sp>
        <p:nvSpPr>
          <p:cNvPr id="21" name="number circle"/>
          <p:cNvSpPr/>
          <p:nvPr/>
        </p:nvSpPr>
        <p:spPr>
          <a:xfrm>
            <a:off x="7880391" y="16916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80391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315017" y="283464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一歩を踏み出す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017" y="3794760"/>
            <a:ext cx="19994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第5講</a:t>
            </a:r>
            <a:endParaRPr lang="en-US" sz="1500" dirty="0"/>
          </a:p>
        </p:txBody>
      </p:sp>
      <p:sp>
        <p:nvSpPr>
          <p:cNvPr id="25" name="number circle"/>
          <p:cNvSpPr/>
          <p:nvPr/>
        </p:nvSpPr>
        <p:spPr>
          <a:xfrm>
            <a:off x="10099274" y="16916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99274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533900" y="2834640"/>
            <a:ext cx="19994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続ける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533900" y="3794760"/>
            <a:ext cx="19994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500" dirty="0"/>
          </a:p>
        </p:txBody>
      </p:sp>
      <p:sp>
        <p:nvSpPr>
          <p:cNvPr id="29" name="key message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あなたは今日、この線の4番目まで来ました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30日ロードマップ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120640"/>
                <a:gridCol w="37764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やること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ポイント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Day1（今日）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紙1枚を書く（第5講で完了）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10分で終わる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Day2〜7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その悩みを解決する流れを箇条書きにする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構成は雑でOK。60点を意識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Week2〜3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文章・動画・PDFなど「出せる形」にする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形式は何でもいい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Week4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小さく見せる → 反応を見る → 直す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ここで初めて完璧主義を使う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迷ったら戻ってくる場所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828800"/>
                <a:gridCol w="37764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こんな時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戻る講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思い出すこと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「自分には向いていない」と思った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第0講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才能ではなく順番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手が止まった・出せない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完璧主義は出した後に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何をすればいいか分からない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第4講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正しい努力の5ステップ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最初の一歩が怖い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第5講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まず、決める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続かない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第6講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結果ではなく行動を基準に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宿題</a:t>
            </a:r>
            <a:endParaRPr lang="en-US" sz="2800" dirty="0"/>
          </a:p>
        </p:txBody>
      </p:sp>
      <p:sp>
        <p:nvSpPr>
          <p:cNvPr id="3" name="lecture tag"/>
          <p:cNvSpPr/>
          <p:nvPr/>
        </p:nvSpPr>
        <p:spPr>
          <a:xfrm>
            <a:off x="10378440" y="457200"/>
            <a:ext cx="1261872" cy="4754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78440" y="45720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第6講</a:t>
            </a:r>
            <a:endParaRPr lang="en-US" sz="1400" dirty="0"/>
          </a:p>
        </p:txBody>
      </p:sp>
      <p:sp>
        <p:nvSpPr>
          <p:cNvPr id="5" name="row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86720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4630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30日アクションシートを書く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1463040"/>
            <a:ext cx="4236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Day2〜7でやることを書く（シート3）</a:t>
            </a:r>
            <a:endParaRPr lang="en-US" sz="1700" dirty="0"/>
          </a:p>
        </p:txBody>
      </p:sp>
      <p:sp>
        <p:nvSpPr>
          <p:cNvPr id="10" name="row"/>
          <p:cNvSpPr/>
          <p:nvPr/>
        </p:nvSpPr>
        <p:spPr>
          <a:xfrm>
            <a:off x="548640" y="2852928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822960" y="3081528"/>
            <a:ext cx="731520" cy="731520"/>
          </a:xfrm>
          <a:prstGeom prst="ellipse">
            <a:avLst/>
          </a:prstGeom>
          <a:solidFill>
            <a:srgbClr val="1E3A3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32570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8800" y="285292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毎日「今日の一手」を1行書く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7132320" y="2852928"/>
            <a:ext cx="4236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結果ではなく行動を記録（シート4）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最後のメッセージ</a:t>
            </a:r>
            <a:endParaRPr lang="en-US" sz="2000" dirty="0"/>
          </a:p>
        </p:txBody>
      </p:sp>
      <p:sp>
        <p:nvSpPr>
          <p:cNvPr id="3" name="number circle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number circle"/>
          <p:cNvSpPr/>
          <p:nvPr/>
        </p:nvSpPr>
        <p:spPr>
          <a:xfrm>
            <a:off x="12344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number circle"/>
          <p:cNvSpPr/>
          <p:nvPr/>
        </p:nvSpPr>
        <p:spPr>
          <a:xfrm>
            <a:off x="19202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20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number circle"/>
          <p:cNvSpPr/>
          <p:nvPr/>
        </p:nvSpPr>
        <p:spPr>
          <a:xfrm>
            <a:off x="26060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06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number circle"/>
          <p:cNvSpPr/>
          <p:nvPr/>
        </p:nvSpPr>
        <p:spPr>
          <a:xfrm>
            <a:off x="32918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18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正しい順番で小さく始め、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止まらずに続ける。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319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あなたはもう、迷う側ではありません。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地図は、すでに手の中にあります。</a:t>
            </a:r>
            <a:endParaRPr lang="en-US" sz="2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ワークシートと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想定Q&amp;A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配布・講師用</a:t>
            </a:r>
            <a:endParaRPr lang="en-US" sz="1600" dirty="0"/>
          </a:p>
        </p:txBody>
      </p:sp>
      <p:sp>
        <p:nvSpPr>
          <p:cNvPr id="5" name="goals box"/>
          <p:cNvSpPr/>
          <p:nvPr/>
        </p:nvSpPr>
        <p:spPr>
          <a:xfrm>
            <a:off x="548640" y="4297680"/>
            <a:ext cx="11094415" cy="178308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収録内容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4632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ワークシート1〜4（印刷・配布用）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想定Q&amp;A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90分セミナー版の時間割</a:t>
            </a:r>
            <a:endParaRPr lang="en-US" sz="1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ワークシート1｜最初の一歩「紙1枚」</a:t>
            </a:r>
            <a:endParaRPr lang="en-US" sz="2800" dirty="0"/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記入欄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誰の悩みか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（例：過去の自分）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その人は何に困っているか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（その人の言葉で）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自分は何を伝えられるか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（試行錯誤して分かったこと）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④ どこまで解決するか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（ゴールを1つだけ）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ワークシート2｜60点チェック</a:t>
            </a:r>
            <a:endParaRPr lang="en-US" sz="2800" dirty="0"/>
          </a:p>
        </p:txBody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1280160"/>
                <a:gridCol w="37764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条件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/ ×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×の場合、何が足りない？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誰のどんな悩みを解決するかが決まっている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その悩みに対する、自分なりの解決ルートがある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お金を払う理由として筋が通っている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※「文章が下手」「構成が荒い」「デザイン」はチェック項目に入れません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ワークシート3｜30日アクションシート</a:t>
            </a:r>
            <a:endParaRPr lang="en-US" sz="2800" dirty="0"/>
          </a:p>
        </p:txBody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99832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やること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完了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</a:tr>
              <a:tr h="831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Day1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紙1枚を書く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✓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1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Day2〜7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解決の流れを箇条書きにする：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1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Week2〜3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出せる形にする（文章／動画／PDF）：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1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Week4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誰に小さく見せるか：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1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Week4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反応を見て直すところ：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ワークシート4｜行動記録（毎日1行）</a:t>
            </a:r>
            <a:endParaRPr lang="en-US" sz="2800" dirty="0"/>
          </a:p>
        </p:txBody>
      </p:sp>
      <p:graphicFrame>
        <p:nvGraphicFramePr>
          <p:cNvPr id="1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0"/>
                <a:gridCol w="39593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日付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今日の一手（小さくてOK）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気づき・データ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</a:tr>
              <a:tr h="7647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／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7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／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7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／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7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／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7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／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※記録するのは「結果」ではなく「行動」です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想定Q&amp;A（1）</a:t>
            </a:r>
            <a:endParaRPr lang="en-US" sz="2800" dirty="0"/>
          </a:p>
        </p:txBody>
      </p:sp>
      <p:sp>
        <p:nvSpPr>
          <p:cNvPr id="3" name="qa"/>
          <p:cNvSpPr/>
          <p:nvPr/>
        </p:nvSpPr>
        <p:spPr>
          <a:xfrm>
            <a:off x="548640" y="1463040"/>
            <a:ext cx="11094415" cy="1402080"/>
          </a:xfrm>
          <a:prstGeom prst="roundRect">
            <a:avLst>
              <a:gd name="adj" fmla="val 7826"/>
            </a:avLst>
          </a:prstGeom>
          <a:solidFill>
            <a:schemeClr val="bg2"/>
          </a:solidFill>
          <a:ln/>
        </p:spPr>
      </p:sp>
      <p:sp>
        <p:nvSpPr>
          <p:cNvPr id="4" name="number circle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60点で出して、不満を持たれませんか？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9814255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60点は手抜きではなく、悩み・解決ルート・払う理由がそろった状態。最初は少人数で出し、買ってくれた方には改善版を届けると安心です。</a:t>
            </a:r>
            <a:endParaRPr lang="en-US" sz="1600" dirty="0"/>
          </a:p>
        </p:txBody>
      </p:sp>
      <p:sp>
        <p:nvSpPr>
          <p:cNvPr id="8" name="qa"/>
          <p:cNvSpPr/>
          <p:nvPr/>
        </p:nvSpPr>
        <p:spPr>
          <a:xfrm>
            <a:off x="548640" y="3093720"/>
            <a:ext cx="11094415" cy="1402080"/>
          </a:xfrm>
          <a:prstGeom prst="roundRect">
            <a:avLst>
              <a:gd name="adj" fmla="val 7826"/>
            </a:avLst>
          </a:prstGeom>
          <a:solidFill>
            <a:schemeClr val="bg2"/>
          </a:solidFill>
          <a:ln/>
        </p:spPr>
      </p:sp>
      <p:sp>
        <p:nvSpPr>
          <p:cNvPr id="9" name="number circle"/>
          <p:cNvSpPr/>
          <p:nvPr/>
        </p:nvSpPr>
        <p:spPr>
          <a:xfrm>
            <a:off x="822960" y="3368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368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32232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扱う悩みが決められません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962400"/>
            <a:ext cx="9814255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正解を探していないか確認を。最初は「過去の自分が一番困っていたこと」で十分。違えば変えればいい。それも「データ」です。</a:t>
            </a:r>
            <a:endParaRPr lang="en-US" sz="1600" dirty="0"/>
          </a:p>
        </p:txBody>
      </p:sp>
      <p:sp>
        <p:nvSpPr>
          <p:cNvPr id="13" name="qa"/>
          <p:cNvSpPr/>
          <p:nvPr/>
        </p:nvSpPr>
        <p:spPr>
          <a:xfrm>
            <a:off x="548640" y="4724400"/>
            <a:ext cx="11094415" cy="1402080"/>
          </a:xfrm>
          <a:prstGeom prst="roundRect">
            <a:avLst>
              <a:gd name="adj" fmla="val 7826"/>
            </a:avLst>
          </a:prstGeom>
          <a:solidFill>
            <a:schemeClr val="bg2"/>
          </a:solidFill>
          <a:ln/>
        </p:spPr>
      </p:sp>
      <p:sp>
        <p:nvSpPr>
          <p:cNvPr id="14" name="number circle"/>
          <p:cNvSpPr/>
          <p:nvPr/>
        </p:nvSpPr>
        <p:spPr>
          <a:xfrm>
            <a:off x="822960" y="4998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99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95300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発信はやめたほうがいいですか？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5593080"/>
            <a:ext cx="9814255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やめる必要はありません。順番の問題です。悩みと商品が決まると、同じ発信でも効果が変わります。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想定Q&amp;A（2）</a:t>
            </a:r>
            <a:endParaRPr lang="en-US" sz="2800" dirty="0"/>
          </a:p>
        </p:txBody>
      </p:sp>
      <p:sp>
        <p:nvSpPr>
          <p:cNvPr id="3" name="qa"/>
          <p:cNvSpPr/>
          <p:nvPr/>
        </p:nvSpPr>
        <p:spPr>
          <a:xfrm>
            <a:off x="548640" y="1463040"/>
            <a:ext cx="11094415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/>
        </p:spPr>
      </p:sp>
      <p:sp>
        <p:nvSpPr>
          <p:cNvPr id="4" name="number circle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勉強はしないほうがいいですか？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9814255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学ぶことは必要です。「学ぶ→いつかやる」ではなく「やる→つまずく→そこを学ぶ」の順にすると、学びが前進の道具になります。</a:t>
            </a:r>
            <a:endParaRPr lang="en-US" sz="1600" dirty="0"/>
          </a:p>
        </p:txBody>
      </p:sp>
      <p:sp>
        <p:nvSpPr>
          <p:cNvPr id="8" name="qa"/>
          <p:cNvSpPr/>
          <p:nvPr/>
        </p:nvSpPr>
        <p:spPr>
          <a:xfrm>
            <a:off x="548640" y="3909060"/>
            <a:ext cx="11094415" cy="2217420"/>
          </a:xfrm>
          <a:prstGeom prst="roundRect">
            <a:avLst>
              <a:gd name="adj" fmla="val 4948"/>
            </a:avLst>
          </a:prstGeom>
          <a:solidFill>
            <a:schemeClr val="bg2"/>
          </a:solidFill>
          <a:ln/>
        </p:spPr>
      </p:sp>
      <p:sp>
        <p:nvSpPr>
          <p:cNvPr id="9" name="number circle"/>
          <p:cNvSpPr/>
          <p:nvPr/>
        </p:nvSpPr>
        <p:spPr>
          <a:xfrm>
            <a:off x="822960" y="41833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1833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413766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続ける自信がありません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777740"/>
            <a:ext cx="9814255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強い意志は必要ありません。止まらないサイズまで行動を小さくすること。「今日は一文だけ書く」も立派な前進です。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90分の単発セミナー版　時間割</a:t>
            </a:r>
            <a:endParaRPr lang="en-US" sz="2800" dirty="0"/>
          </a:p>
        </p:txBody>
      </p:sp>
      <p:graphicFrame>
        <p:nvGraphicFramePr>
          <p:cNvPr id="10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336792"/>
                <a:gridCol w="256032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時間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対応する講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0:00〜0:10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オリエンテーション：才能ではなく順番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第0講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0:10〜0:25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スタート地点のズレ＋商品が先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第1講・第2講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0:25〜0:35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60点の3条件と根拠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0:35〜0:50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2つの敵（完璧主義・ズレた努力）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0:50〜1:00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正しい努力の5ステップ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第4講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1:00〜1:20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【ワーク】紙1枚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第5講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3A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1:20〜1:30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続ける思考・30日ロードマップ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第6講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ent Order">
  <a:themeElements>
    <a:clrScheme name="Content Order">
      <a:dk1>
        <a:srgbClr val="1F2328"/>
      </a:dk1>
      <a:lt1>
        <a:srgbClr val="FFFFFF"/>
      </a:lt1>
      <a:dk2>
        <a:srgbClr val="1E3A34"/>
      </a:dk2>
      <a:lt2>
        <a:srgbClr val="EEF4F1"/>
      </a:lt2>
      <a:accent1>
        <a:srgbClr val="F2A541"/>
      </a:accent1>
      <a:accent2>
        <a:srgbClr val="C8553D"/>
      </a:accent2>
      <a:accent3>
        <a:srgbClr val="2F6B5E"/>
      </a:accent3>
      <a:accent4>
        <a:srgbClr val="8FB9A8"/>
      </a:accent4>
      <a:accent5>
        <a:srgbClr val="6B7280"/>
      </a:accent5>
      <a:accent6>
        <a:srgbClr val="FBE8C8"/>
      </a:accent6>
      <a:hlink>
        <a:srgbClr val="2F6B5E"/>
      </a:hlink>
      <a:folHlink>
        <a:srgbClr val="6B7280"/>
      </a:folHlink>
    </a:clrScheme>
    <a:fontScheme name="Content Order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コンテンツ販売は思考の順番で９割決まる</dc:title>
  <dc:subject>PptxGenJS Presentation</dc:subject>
  <dc:creator>PptxGenJS</dc:creator>
  <cp:lastModifiedBy>PptxGenJS</cp:lastModifiedBy>
  <cp:revision>1</cp:revision>
  <dcterms:created xsi:type="dcterms:W3CDTF">2026-10-22T14:20:35Z</dcterms:created>
  <dcterms:modified xsi:type="dcterms:W3CDTF">2026-10-22T14:20:35Z</dcterms:modified>
</cp:coreProperties>
</file>